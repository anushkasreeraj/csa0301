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74" r:id="rId3"/>
    <p:sldId id="257" r:id="rId4"/>
    <p:sldId id="262" r:id="rId5"/>
    <p:sldId id="275" r:id="rId6"/>
    <p:sldId id="276" r:id="rId7"/>
    <p:sldId id="277" r:id="rId8"/>
    <p:sldId id="264" r:id="rId9"/>
    <p:sldId id="265" r:id="rId10"/>
  </p:sldIdLst>
  <p:sldSz cx="24384000" cy="13716000"/>
  <p:notesSz cx="6858000" cy="9144000"/>
  <p:embeddedFontLst>
    <p:embeddedFont>
      <p:font typeface="Helvetica Neue"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h4TV7cRgFMmZ5faxiO+1ky3vv8U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8A603B1-64F8-4D6B-8910-69835B49B399}">
  <a:tblStyle styleId="{D8A603B1-64F8-4D6B-8910-69835B49B39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60" autoAdjust="0"/>
    <p:restoredTop sz="94660"/>
  </p:normalViewPr>
  <p:slideViewPr>
    <p:cSldViewPr snapToGrid="0">
      <p:cViewPr varScale="1">
        <p:scale>
          <a:sx n="45" d="100"/>
          <a:sy n="45" d="100"/>
        </p:scale>
        <p:origin x="55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2415E6-CA4E-4499-B6E9-CA596217EC8A}" type="doc">
      <dgm:prSet loTypeId="urn:microsoft.com/office/officeart/2005/8/layout/default" loCatId="list" qsTypeId="urn:microsoft.com/office/officeart/2005/8/quickstyle/simple1" qsCatId="simple" csTypeId="urn:microsoft.com/office/officeart/2005/8/colors/accent0_1" csCatId="mainScheme" phldr="1"/>
      <dgm:spPr/>
      <dgm:t>
        <a:bodyPr/>
        <a:lstStyle/>
        <a:p>
          <a:endParaRPr lang="en-IN"/>
        </a:p>
      </dgm:t>
    </dgm:pt>
    <dgm:pt modelId="{31FC3F92-DFA1-48F6-A2AC-D9C16663CD01}">
      <dgm:prSet/>
      <dgm:spPr/>
      <dgm:t>
        <a:bodyPr/>
        <a:lstStyle/>
        <a:p>
          <a:pPr>
            <a:buNone/>
          </a:pPr>
          <a:r>
            <a:rPr lang="en-IN" b="1" dirty="0"/>
            <a:t>Digital libraries store large collections of books and digital resources</a:t>
          </a:r>
          <a:r>
            <a:rPr lang="en-IN" dirty="0"/>
            <a:t>, making efficient data organisation and retrieval essential for smooth operation. </a:t>
          </a:r>
        </a:p>
      </dgm:t>
    </dgm:pt>
    <dgm:pt modelId="{FDF54BF7-003F-446C-91FE-B785C28A1923}" type="parTrans" cxnId="{CD0FBC0E-40D9-4353-A28D-4E3DB7BB02A0}">
      <dgm:prSet/>
      <dgm:spPr/>
      <dgm:t>
        <a:bodyPr/>
        <a:lstStyle/>
        <a:p>
          <a:endParaRPr lang="en-IN"/>
        </a:p>
      </dgm:t>
    </dgm:pt>
    <dgm:pt modelId="{128A0E0F-5350-4492-BC27-EB64F47001B2}" type="sibTrans" cxnId="{CD0FBC0E-40D9-4353-A28D-4E3DB7BB02A0}">
      <dgm:prSet/>
      <dgm:spPr/>
      <dgm:t>
        <a:bodyPr/>
        <a:lstStyle/>
        <a:p>
          <a:endParaRPr lang="en-IN"/>
        </a:p>
      </dgm:t>
    </dgm:pt>
    <dgm:pt modelId="{E2CD0197-FD2B-44B6-BBFC-6BB52594ADFE}">
      <dgm:prSet/>
      <dgm:spPr/>
      <dgm:t>
        <a:bodyPr/>
        <a:lstStyle/>
        <a:p>
          <a:pPr>
            <a:buNone/>
          </a:pPr>
          <a:r>
            <a:rPr lang="en-IN" b="1" dirty="0"/>
            <a:t>Each book is identified by a unique ISBN (International Standard Book Number)</a:t>
          </a:r>
          <a:r>
            <a:rPr lang="en-IN" dirty="0"/>
            <a:t>, which serves as a reliable key for searching specific book records. </a:t>
          </a:r>
        </a:p>
      </dgm:t>
    </dgm:pt>
    <dgm:pt modelId="{140CAD96-804D-4978-9E46-4D0A1C502073}" type="parTrans" cxnId="{778CB6AE-849E-4BC3-97F4-22004EA05EBE}">
      <dgm:prSet/>
      <dgm:spPr/>
      <dgm:t>
        <a:bodyPr/>
        <a:lstStyle/>
        <a:p>
          <a:endParaRPr lang="en-IN"/>
        </a:p>
      </dgm:t>
    </dgm:pt>
    <dgm:pt modelId="{F7903D88-B50B-41B5-9E61-091DD7064796}" type="sibTrans" cxnId="{778CB6AE-849E-4BC3-97F4-22004EA05EBE}">
      <dgm:prSet/>
      <dgm:spPr/>
      <dgm:t>
        <a:bodyPr/>
        <a:lstStyle/>
        <a:p>
          <a:endParaRPr lang="en-IN"/>
        </a:p>
      </dgm:t>
    </dgm:pt>
    <dgm:pt modelId="{D5AE3778-CA8E-4E20-8680-E11100F1EDCA}">
      <dgm:prSet/>
      <dgm:spPr/>
      <dgm:t>
        <a:bodyPr/>
        <a:lstStyle/>
        <a:p>
          <a:pPr>
            <a:buNone/>
          </a:pPr>
          <a:r>
            <a:rPr lang="en-IN" b="1" dirty="0"/>
            <a:t>As the number of records increases (e.g., 50,000 books), search efficiency becomes a critical factor</a:t>
          </a:r>
          <a:r>
            <a:rPr lang="en-IN" dirty="0"/>
            <a:t> in ensuring quick access to information. </a:t>
          </a:r>
        </a:p>
      </dgm:t>
    </dgm:pt>
    <dgm:pt modelId="{2F26E863-6895-47B7-97BB-A9178523ED78}" type="parTrans" cxnId="{D7DC2240-F01C-42DA-8607-16561BCB358E}">
      <dgm:prSet/>
      <dgm:spPr/>
      <dgm:t>
        <a:bodyPr/>
        <a:lstStyle/>
        <a:p>
          <a:endParaRPr lang="en-IN"/>
        </a:p>
      </dgm:t>
    </dgm:pt>
    <dgm:pt modelId="{CC80D8D3-4300-4181-BD8F-5793642F3989}" type="sibTrans" cxnId="{D7DC2240-F01C-42DA-8607-16561BCB358E}">
      <dgm:prSet/>
      <dgm:spPr/>
      <dgm:t>
        <a:bodyPr/>
        <a:lstStyle/>
        <a:p>
          <a:endParaRPr lang="en-IN"/>
        </a:p>
      </dgm:t>
    </dgm:pt>
    <dgm:pt modelId="{E0C9B243-8316-40D4-8295-510D9149A45A}">
      <dgm:prSet/>
      <dgm:spPr/>
      <dgm:t>
        <a:bodyPr/>
        <a:lstStyle/>
        <a:p>
          <a:pPr>
            <a:buNone/>
          </a:pPr>
          <a:r>
            <a:rPr lang="en-IN" b="1" dirty="0"/>
            <a:t>The choice of data structure directly affects search performance</a:t>
          </a:r>
          <a:r>
            <a:rPr lang="en-IN" dirty="0"/>
            <a:t>, memory usage, and the overall responsiveness of the library management system. </a:t>
          </a:r>
        </a:p>
      </dgm:t>
    </dgm:pt>
    <dgm:pt modelId="{9272B920-5B3F-411E-A4E1-B69DB640572D}" type="parTrans" cxnId="{D3169E49-466B-4A91-A6C1-FFC2FC9E87DC}">
      <dgm:prSet/>
      <dgm:spPr/>
      <dgm:t>
        <a:bodyPr/>
        <a:lstStyle/>
        <a:p>
          <a:endParaRPr lang="en-IN"/>
        </a:p>
      </dgm:t>
    </dgm:pt>
    <dgm:pt modelId="{FFD20D5C-7FDD-48A1-A5B0-A07CD67CF148}" type="sibTrans" cxnId="{D3169E49-466B-4A91-A6C1-FFC2FC9E87DC}">
      <dgm:prSet/>
      <dgm:spPr/>
      <dgm:t>
        <a:bodyPr/>
        <a:lstStyle/>
        <a:p>
          <a:endParaRPr lang="en-IN"/>
        </a:p>
      </dgm:t>
    </dgm:pt>
    <dgm:pt modelId="{9991339C-527B-43D3-A991-86EEF167FF0B}">
      <dgm:prSet/>
      <dgm:spPr/>
      <dgm:t>
        <a:bodyPr/>
        <a:lstStyle/>
        <a:p>
          <a:pPr>
            <a:buNone/>
          </a:pPr>
          <a:r>
            <a:rPr lang="en-IN" b="1"/>
            <a:t>This presentation evaluates different data structures using time complexity analysis</a:t>
          </a:r>
          <a:r>
            <a:rPr lang="en-IN"/>
            <a:t> and justifies why a </a:t>
          </a:r>
          <a:r>
            <a:rPr lang="en-IN" b="1"/>
            <a:t>Hash Table</a:t>
          </a:r>
          <a:r>
            <a:rPr lang="en-IN"/>
            <a:t> is the most suitable choice for fast ISBN-based book searches.</a:t>
          </a:r>
          <a:endParaRPr lang="en-IN" dirty="0"/>
        </a:p>
      </dgm:t>
    </dgm:pt>
    <dgm:pt modelId="{8C82768C-F8F2-41F4-8745-3B645354FF93}" type="parTrans" cxnId="{DD21D016-4C90-49BB-AE66-12E239EEB59D}">
      <dgm:prSet/>
      <dgm:spPr/>
      <dgm:t>
        <a:bodyPr/>
        <a:lstStyle/>
        <a:p>
          <a:endParaRPr lang="en-IN"/>
        </a:p>
      </dgm:t>
    </dgm:pt>
    <dgm:pt modelId="{618CA7D4-5653-4635-B278-84107C811F33}" type="sibTrans" cxnId="{DD21D016-4C90-49BB-AE66-12E239EEB59D}">
      <dgm:prSet/>
      <dgm:spPr/>
      <dgm:t>
        <a:bodyPr/>
        <a:lstStyle/>
        <a:p>
          <a:endParaRPr lang="en-IN"/>
        </a:p>
      </dgm:t>
    </dgm:pt>
    <dgm:pt modelId="{CEA3F615-7E0E-43CB-BCE6-391EAEFEE090}" type="pres">
      <dgm:prSet presAssocID="{5D2415E6-CA4E-4499-B6E9-CA596217EC8A}" presName="diagram" presStyleCnt="0">
        <dgm:presLayoutVars>
          <dgm:dir/>
          <dgm:resizeHandles val="exact"/>
        </dgm:presLayoutVars>
      </dgm:prSet>
      <dgm:spPr/>
    </dgm:pt>
    <dgm:pt modelId="{04A07FA9-11E2-44CE-B4FF-3BB2D874128A}" type="pres">
      <dgm:prSet presAssocID="{31FC3F92-DFA1-48F6-A2AC-D9C16663CD01}" presName="node" presStyleLbl="node1" presStyleIdx="0" presStyleCnt="5">
        <dgm:presLayoutVars>
          <dgm:bulletEnabled val="1"/>
        </dgm:presLayoutVars>
      </dgm:prSet>
      <dgm:spPr/>
    </dgm:pt>
    <dgm:pt modelId="{A2A9BD08-71B5-4968-8BEC-6931BC0D74F8}" type="pres">
      <dgm:prSet presAssocID="{128A0E0F-5350-4492-BC27-EB64F47001B2}" presName="sibTrans" presStyleCnt="0"/>
      <dgm:spPr/>
    </dgm:pt>
    <dgm:pt modelId="{92BFB1D7-D6D0-453D-81C7-BAA54ACCE952}" type="pres">
      <dgm:prSet presAssocID="{E2CD0197-FD2B-44B6-BBFC-6BB52594ADFE}" presName="node" presStyleLbl="node1" presStyleIdx="1" presStyleCnt="5">
        <dgm:presLayoutVars>
          <dgm:bulletEnabled val="1"/>
        </dgm:presLayoutVars>
      </dgm:prSet>
      <dgm:spPr/>
    </dgm:pt>
    <dgm:pt modelId="{26FDC881-463B-4580-9D5C-C3C077ACC812}" type="pres">
      <dgm:prSet presAssocID="{F7903D88-B50B-41B5-9E61-091DD7064796}" presName="sibTrans" presStyleCnt="0"/>
      <dgm:spPr/>
    </dgm:pt>
    <dgm:pt modelId="{3A750F0B-EA4F-493B-A074-60CC7D9930A5}" type="pres">
      <dgm:prSet presAssocID="{D5AE3778-CA8E-4E20-8680-E11100F1EDCA}" presName="node" presStyleLbl="node1" presStyleIdx="2" presStyleCnt="5">
        <dgm:presLayoutVars>
          <dgm:bulletEnabled val="1"/>
        </dgm:presLayoutVars>
      </dgm:prSet>
      <dgm:spPr/>
    </dgm:pt>
    <dgm:pt modelId="{B67F2917-716B-4E62-8197-699D1143295B}" type="pres">
      <dgm:prSet presAssocID="{CC80D8D3-4300-4181-BD8F-5793642F3989}" presName="sibTrans" presStyleCnt="0"/>
      <dgm:spPr/>
    </dgm:pt>
    <dgm:pt modelId="{A14F33DB-0995-41EC-97B8-247E8A63477D}" type="pres">
      <dgm:prSet presAssocID="{E0C9B243-8316-40D4-8295-510D9149A45A}" presName="node" presStyleLbl="node1" presStyleIdx="3" presStyleCnt="5">
        <dgm:presLayoutVars>
          <dgm:bulletEnabled val="1"/>
        </dgm:presLayoutVars>
      </dgm:prSet>
      <dgm:spPr/>
    </dgm:pt>
    <dgm:pt modelId="{50FD1380-F022-45CC-A064-447A3B4D5BBE}" type="pres">
      <dgm:prSet presAssocID="{FFD20D5C-7FDD-48A1-A5B0-A07CD67CF148}" presName="sibTrans" presStyleCnt="0"/>
      <dgm:spPr/>
    </dgm:pt>
    <dgm:pt modelId="{89AFFC09-69D0-4CD8-B9D4-69235FD10511}" type="pres">
      <dgm:prSet presAssocID="{9991339C-527B-43D3-A991-86EEF167FF0B}" presName="node" presStyleLbl="node1" presStyleIdx="4" presStyleCnt="5">
        <dgm:presLayoutVars>
          <dgm:bulletEnabled val="1"/>
        </dgm:presLayoutVars>
      </dgm:prSet>
      <dgm:spPr/>
    </dgm:pt>
  </dgm:ptLst>
  <dgm:cxnLst>
    <dgm:cxn modelId="{CD0FBC0E-40D9-4353-A28D-4E3DB7BB02A0}" srcId="{5D2415E6-CA4E-4499-B6E9-CA596217EC8A}" destId="{31FC3F92-DFA1-48F6-A2AC-D9C16663CD01}" srcOrd="0" destOrd="0" parTransId="{FDF54BF7-003F-446C-91FE-B785C28A1923}" sibTransId="{128A0E0F-5350-4492-BC27-EB64F47001B2}"/>
    <dgm:cxn modelId="{DD21D016-4C90-49BB-AE66-12E239EEB59D}" srcId="{5D2415E6-CA4E-4499-B6E9-CA596217EC8A}" destId="{9991339C-527B-43D3-A991-86EEF167FF0B}" srcOrd="4" destOrd="0" parTransId="{8C82768C-F8F2-41F4-8745-3B645354FF93}" sibTransId="{618CA7D4-5653-4635-B278-84107C811F33}"/>
    <dgm:cxn modelId="{D7DC2240-F01C-42DA-8607-16561BCB358E}" srcId="{5D2415E6-CA4E-4499-B6E9-CA596217EC8A}" destId="{D5AE3778-CA8E-4E20-8680-E11100F1EDCA}" srcOrd="2" destOrd="0" parTransId="{2F26E863-6895-47B7-97BB-A9178523ED78}" sibTransId="{CC80D8D3-4300-4181-BD8F-5793642F3989}"/>
    <dgm:cxn modelId="{D8E3F543-DA51-4E6B-8059-76E2F567908E}" type="presOf" srcId="{5D2415E6-CA4E-4499-B6E9-CA596217EC8A}" destId="{CEA3F615-7E0E-43CB-BCE6-391EAEFEE090}" srcOrd="0" destOrd="0" presId="urn:microsoft.com/office/officeart/2005/8/layout/default"/>
    <dgm:cxn modelId="{D3169E49-466B-4A91-A6C1-FFC2FC9E87DC}" srcId="{5D2415E6-CA4E-4499-B6E9-CA596217EC8A}" destId="{E0C9B243-8316-40D4-8295-510D9149A45A}" srcOrd="3" destOrd="0" parTransId="{9272B920-5B3F-411E-A4E1-B69DB640572D}" sibTransId="{FFD20D5C-7FDD-48A1-A5B0-A07CD67CF148}"/>
    <dgm:cxn modelId="{7B059E92-5649-4582-8B9B-C3F260AD5CA8}" type="presOf" srcId="{E0C9B243-8316-40D4-8295-510D9149A45A}" destId="{A14F33DB-0995-41EC-97B8-247E8A63477D}" srcOrd="0" destOrd="0" presId="urn:microsoft.com/office/officeart/2005/8/layout/default"/>
    <dgm:cxn modelId="{FE9372A7-ABDC-4F6A-A87D-4DD57A5DD90A}" type="presOf" srcId="{D5AE3778-CA8E-4E20-8680-E11100F1EDCA}" destId="{3A750F0B-EA4F-493B-A074-60CC7D9930A5}" srcOrd="0" destOrd="0" presId="urn:microsoft.com/office/officeart/2005/8/layout/default"/>
    <dgm:cxn modelId="{24899EA9-92E7-454F-A1DE-06F9032290EC}" type="presOf" srcId="{E2CD0197-FD2B-44B6-BBFC-6BB52594ADFE}" destId="{92BFB1D7-D6D0-453D-81C7-BAA54ACCE952}" srcOrd="0" destOrd="0" presId="urn:microsoft.com/office/officeart/2005/8/layout/default"/>
    <dgm:cxn modelId="{778CB6AE-849E-4BC3-97F4-22004EA05EBE}" srcId="{5D2415E6-CA4E-4499-B6E9-CA596217EC8A}" destId="{E2CD0197-FD2B-44B6-BBFC-6BB52594ADFE}" srcOrd="1" destOrd="0" parTransId="{140CAD96-804D-4978-9E46-4D0A1C502073}" sibTransId="{F7903D88-B50B-41B5-9E61-091DD7064796}"/>
    <dgm:cxn modelId="{30FEA5E4-8475-4D41-93E1-E53F0451EBC2}" type="presOf" srcId="{9991339C-527B-43D3-A991-86EEF167FF0B}" destId="{89AFFC09-69D0-4CD8-B9D4-69235FD10511}" srcOrd="0" destOrd="0" presId="urn:microsoft.com/office/officeart/2005/8/layout/default"/>
    <dgm:cxn modelId="{E5ED31FC-850E-4069-87A4-CF76FA8D060A}" type="presOf" srcId="{31FC3F92-DFA1-48F6-A2AC-D9C16663CD01}" destId="{04A07FA9-11E2-44CE-B4FF-3BB2D874128A}" srcOrd="0" destOrd="0" presId="urn:microsoft.com/office/officeart/2005/8/layout/default"/>
    <dgm:cxn modelId="{C38478F0-9AEF-4662-A8BB-35136945598D}" type="presParOf" srcId="{CEA3F615-7E0E-43CB-BCE6-391EAEFEE090}" destId="{04A07FA9-11E2-44CE-B4FF-3BB2D874128A}" srcOrd="0" destOrd="0" presId="urn:microsoft.com/office/officeart/2005/8/layout/default"/>
    <dgm:cxn modelId="{CCA70713-3876-4BFD-BC70-2348D09F4033}" type="presParOf" srcId="{CEA3F615-7E0E-43CB-BCE6-391EAEFEE090}" destId="{A2A9BD08-71B5-4968-8BEC-6931BC0D74F8}" srcOrd="1" destOrd="0" presId="urn:microsoft.com/office/officeart/2005/8/layout/default"/>
    <dgm:cxn modelId="{639F1CA4-4B44-44A5-A490-F9A33BAF89FF}" type="presParOf" srcId="{CEA3F615-7E0E-43CB-BCE6-391EAEFEE090}" destId="{92BFB1D7-D6D0-453D-81C7-BAA54ACCE952}" srcOrd="2" destOrd="0" presId="urn:microsoft.com/office/officeart/2005/8/layout/default"/>
    <dgm:cxn modelId="{8C9CE5AC-0C38-4948-A7AF-05A9AC825824}" type="presParOf" srcId="{CEA3F615-7E0E-43CB-BCE6-391EAEFEE090}" destId="{26FDC881-463B-4580-9D5C-C3C077ACC812}" srcOrd="3" destOrd="0" presId="urn:microsoft.com/office/officeart/2005/8/layout/default"/>
    <dgm:cxn modelId="{97777B6C-AF95-40A8-AE3E-5FC4D31F0C5B}" type="presParOf" srcId="{CEA3F615-7E0E-43CB-BCE6-391EAEFEE090}" destId="{3A750F0B-EA4F-493B-A074-60CC7D9930A5}" srcOrd="4" destOrd="0" presId="urn:microsoft.com/office/officeart/2005/8/layout/default"/>
    <dgm:cxn modelId="{EA23DBD6-B0AA-437F-8F38-DB06CFFC218A}" type="presParOf" srcId="{CEA3F615-7E0E-43CB-BCE6-391EAEFEE090}" destId="{B67F2917-716B-4E62-8197-699D1143295B}" srcOrd="5" destOrd="0" presId="urn:microsoft.com/office/officeart/2005/8/layout/default"/>
    <dgm:cxn modelId="{320F2629-ED65-4BE0-B879-6C17513EDE50}" type="presParOf" srcId="{CEA3F615-7E0E-43CB-BCE6-391EAEFEE090}" destId="{A14F33DB-0995-41EC-97B8-247E8A63477D}" srcOrd="6" destOrd="0" presId="urn:microsoft.com/office/officeart/2005/8/layout/default"/>
    <dgm:cxn modelId="{6F9AE08C-EEBA-409F-B178-FBB064E3F0CC}" type="presParOf" srcId="{CEA3F615-7E0E-43CB-BCE6-391EAEFEE090}" destId="{50FD1380-F022-45CC-A064-447A3B4D5BBE}" srcOrd="7" destOrd="0" presId="urn:microsoft.com/office/officeart/2005/8/layout/default"/>
    <dgm:cxn modelId="{B6D1E81E-7FF5-4FD4-AF6B-0D0FAE3D3D09}" type="presParOf" srcId="{CEA3F615-7E0E-43CB-BCE6-391EAEFEE090}" destId="{89AFFC09-69D0-4CD8-B9D4-69235FD10511}"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A2E1BFF-BB85-4D34-89AC-0493947B6A13}"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IN"/>
        </a:p>
      </dgm:t>
    </dgm:pt>
    <dgm:pt modelId="{08F0A143-EA5E-490E-9790-D621BA0D0BF9}">
      <dgm:prSet custT="1"/>
      <dgm:spPr/>
      <dgm:t>
        <a:bodyPr/>
        <a:lstStyle/>
        <a:p>
          <a:pPr>
            <a:buNone/>
          </a:pPr>
          <a:r>
            <a:rPr lang="en-IN" sz="3600" b="0" dirty="0">
              <a:latin typeface="Times New Roman" panose="02020603050405020304" pitchFamily="18" charset="0"/>
              <a:cs typeface="Times New Roman" panose="02020603050405020304" pitchFamily="18" charset="0"/>
            </a:rPr>
            <a:t>A digital library contains approximately 50,000 book records, making efficient data retrieval a significant challenge as the database grows. </a:t>
          </a:r>
        </a:p>
      </dgm:t>
    </dgm:pt>
    <dgm:pt modelId="{B6897C1A-7621-4872-B5A2-17350ABAC382}" type="parTrans" cxnId="{B463EE39-FC35-45DF-BB9E-2B692779B2AA}">
      <dgm:prSet/>
      <dgm:spPr/>
      <dgm:t>
        <a:bodyPr/>
        <a:lstStyle/>
        <a:p>
          <a:endParaRPr lang="en-IN"/>
        </a:p>
      </dgm:t>
    </dgm:pt>
    <dgm:pt modelId="{00990F64-3F85-44BA-B440-6C0C099F8CC7}" type="sibTrans" cxnId="{B463EE39-FC35-45DF-BB9E-2B692779B2AA}">
      <dgm:prSet/>
      <dgm:spPr/>
      <dgm:t>
        <a:bodyPr/>
        <a:lstStyle/>
        <a:p>
          <a:endParaRPr lang="en-IN"/>
        </a:p>
      </dgm:t>
    </dgm:pt>
    <dgm:pt modelId="{E8EDD4E0-E749-4730-A075-19C9AF48498F}">
      <dgm:prSet custT="1"/>
      <dgm:spPr/>
      <dgm:t>
        <a:bodyPr/>
        <a:lstStyle/>
        <a:p>
          <a:pPr>
            <a:buNone/>
          </a:pPr>
          <a:r>
            <a:rPr lang="en-IN" sz="3600" b="0" dirty="0">
              <a:latin typeface="Times New Roman" panose="02020603050405020304" pitchFamily="18" charset="0"/>
              <a:cs typeface="Times New Roman" panose="02020603050405020304" pitchFamily="18" charset="0"/>
            </a:rPr>
            <a:t>Users frequently search for books using ISBN numbers, and the system is expected to return accurate results with minimal response time.</a:t>
          </a:r>
        </a:p>
      </dgm:t>
    </dgm:pt>
    <dgm:pt modelId="{BBCEE747-2379-4FA2-88EB-799D1E294670}" type="parTrans" cxnId="{412AA2F9-9732-4931-B01E-96034D70F605}">
      <dgm:prSet/>
      <dgm:spPr/>
      <dgm:t>
        <a:bodyPr/>
        <a:lstStyle/>
        <a:p>
          <a:endParaRPr lang="en-IN"/>
        </a:p>
      </dgm:t>
    </dgm:pt>
    <dgm:pt modelId="{7340C3F0-C675-46C0-B963-C19CB59B99AF}" type="sibTrans" cxnId="{412AA2F9-9732-4931-B01E-96034D70F605}">
      <dgm:prSet/>
      <dgm:spPr/>
      <dgm:t>
        <a:bodyPr/>
        <a:lstStyle/>
        <a:p>
          <a:endParaRPr lang="en-IN"/>
        </a:p>
      </dgm:t>
    </dgm:pt>
    <dgm:pt modelId="{B55A392B-6BA8-4592-9E82-A0870BAB9D96}">
      <dgm:prSet custT="1"/>
      <dgm:spPr/>
      <dgm:t>
        <a:bodyPr/>
        <a:lstStyle/>
        <a:p>
          <a:pPr>
            <a:buNone/>
          </a:pPr>
          <a:r>
            <a:rPr lang="en-IN" sz="3600" b="0" dirty="0">
              <a:latin typeface="Times New Roman" panose="02020603050405020304" pitchFamily="18" charset="0"/>
              <a:cs typeface="Times New Roman" panose="02020603050405020304" pitchFamily="18" charset="0"/>
            </a:rPr>
            <a:t> Traditional data structures such as arrays or linked lists require linear searching, which becomes inefficient and time-consuming for large datasets. Selecting an inappropriate data structure can lead to increased search time, reduced system performance, and a poor user experience. </a:t>
          </a:r>
        </a:p>
      </dgm:t>
    </dgm:pt>
    <dgm:pt modelId="{EE729619-85AF-418A-9384-14FEC3FEC26E}" type="parTrans" cxnId="{4739CE0F-9042-442F-9A10-6C3F73BEE509}">
      <dgm:prSet/>
      <dgm:spPr/>
      <dgm:t>
        <a:bodyPr/>
        <a:lstStyle/>
        <a:p>
          <a:endParaRPr lang="en-IN"/>
        </a:p>
      </dgm:t>
    </dgm:pt>
    <dgm:pt modelId="{02E50DDA-0D0A-462E-AB82-1B80D6446869}" type="sibTrans" cxnId="{4739CE0F-9042-442F-9A10-6C3F73BEE509}">
      <dgm:prSet/>
      <dgm:spPr/>
      <dgm:t>
        <a:bodyPr/>
        <a:lstStyle/>
        <a:p>
          <a:endParaRPr lang="en-IN"/>
        </a:p>
      </dgm:t>
    </dgm:pt>
    <dgm:pt modelId="{5A74410B-1503-49E1-8962-32F80D439C7C}">
      <dgm:prSet custT="1"/>
      <dgm:spPr/>
      <dgm:t>
        <a:bodyPr/>
        <a:lstStyle/>
        <a:p>
          <a:pPr>
            <a:buNone/>
          </a:pPr>
          <a:r>
            <a:rPr lang="en-IN" sz="3600" b="0" dirty="0">
              <a:latin typeface="Times New Roman" panose="02020603050405020304" pitchFamily="18" charset="0"/>
              <a:cs typeface="Times New Roman" panose="02020603050405020304" pitchFamily="18" charset="0"/>
            </a:rPr>
            <a:t>Therefore, it is essential to identify and implement the most suitable data structure based on time complexity to enable fast, scalable, and efficient ISBN-based book searches.</a:t>
          </a:r>
        </a:p>
      </dgm:t>
    </dgm:pt>
    <dgm:pt modelId="{C5979D1F-644F-4EBD-966C-7DE2162A77B8}" type="parTrans" cxnId="{CCEBFE5D-9F70-4EED-ADDF-9D3F7908A1C1}">
      <dgm:prSet/>
      <dgm:spPr/>
      <dgm:t>
        <a:bodyPr/>
        <a:lstStyle/>
        <a:p>
          <a:endParaRPr lang="en-IN"/>
        </a:p>
      </dgm:t>
    </dgm:pt>
    <dgm:pt modelId="{0C4D60D5-B111-4797-ADEB-15402547D6E5}" type="sibTrans" cxnId="{CCEBFE5D-9F70-4EED-ADDF-9D3F7908A1C1}">
      <dgm:prSet/>
      <dgm:spPr/>
      <dgm:t>
        <a:bodyPr/>
        <a:lstStyle/>
        <a:p>
          <a:endParaRPr lang="en-IN"/>
        </a:p>
      </dgm:t>
    </dgm:pt>
    <dgm:pt modelId="{ED1BE110-7F50-442D-97FD-7D8E41E24EF4}" type="pres">
      <dgm:prSet presAssocID="{0A2E1BFF-BB85-4D34-89AC-0493947B6A13}" presName="linear" presStyleCnt="0">
        <dgm:presLayoutVars>
          <dgm:animLvl val="lvl"/>
          <dgm:resizeHandles val="exact"/>
        </dgm:presLayoutVars>
      </dgm:prSet>
      <dgm:spPr/>
    </dgm:pt>
    <dgm:pt modelId="{243D304C-7F15-46B7-90CA-0F5CF58C86AE}" type="pres">
      <dgm:prSet presAssocID="{08F0A143-EA5E-490E-9790-D621BA0D0BF9}" presName="parentText" presStyleLbl="node1" presStyleIdx="0" presStyleCnt="4">
        <dgm:presLayoutVars>
          <dgm:chMax val="0"/>
          <dgm:bulletEnabled val="1"/>
        </dgm:presLayoutVars>
      </dgm:prSet>
      <dgm:spPr/>
    </dgm:pt>
    <dgm:pt modelId="{AD5F28F0-A5B7-4B99-A447-D0B2F4856621}" type="pres">
      <dgm:prSet presAssocID="{00990F64-3F85-44BA-B440-6C0C099F8CC7}" presName="spacer" presStyleCnt="0"/>
      <dgm:spPr/>
    </dgm:pt>
    <dgm:pt modelId="{8D81FA39-7D05-4E5B-9C88-2CC0E4CCEBA1}" type="pres">
      <dgm:prSet presAssocID="{E8EDD4E0-E749-4730-A075-19C9AF48498F}" presName="parentText" presStyleLbl="node1" presStyleIdx="1" presStyleCnt="4">
        <dgm:presLayoutVars>
          <dgm:chMax val="0"/>
          <dgm:bulletEnabled val="1"/>
        </dgm:presLayoutVars>
      </dgm:prSet>
      <dgm:spPr/>
    </dgm:pt>
    <dgm:pt modelId="{FCFFDB88-FBFC-4105-9A39-8D55493CC89E}" type="pres">
      <dgm:prSet presAssocID="{7340C3F0-C675-46C0-B963-C19CB59B99AF}" presName="spacer" presStyleCnt="0"/>
      <dgm:spPr/>
    </dgm:pt>
    <dgm:pt modelId="{F3CEC12A-DAEE-489D-A00F-4A6300288715}" type="pres">
      <dgm:prSet presAssocID="{B55A392B-6BA8-4592-9E82-A0870BAB9D96}" presName="parentText" presStyleLbl="node1" presStyleIdx="2" presStyleCnt="4">
        <dgm:presLayoutVars>
          <dgm:chMax val="0"/>
          <dgm:bulletEnabled val="1"/>
        </dgm:presLayoutVars>
      </dgm:prSet>
      <dgm:spPr/>
    </dgm:pt>
    <dgm:pt modelId="{6B61F90A-1524-4480-974A-E92A29EC2136}" type="pres">
      <dgm:prSet presAssocID="{02E50DDA-0D0A-462E-AB82-1B80D6446869}" presName="spacer" presStyleCnt="0"/>
      <dgm:spPr/>
    </dgm:pt>
    <dgm:pt modelId="{6B30C63A-6C9A-498F-89BB-C485A53058AF}" type="pres">
      <dgm:prSet presAssocID="{5A74410B-1503-49E1-8962-32F80D439C7C}" presName="parentText" presStyleLbl="node1" presStyleIdx="3" presStyleCnt="4">
        <dgm:presLayoutVars>
          <dgm:chMax val="0"/>
          <dgm:bulletEnabled val="1"/>
        </dgm:presLayoutVars>
      </dgm:prSet>
      <dgm:spPr/>
    </dgm:pt>
  </dgm:ptLst>
  <dgm:cxnLst>
    <dgm:cxn modelId="{4739CE0F-9042-442F-9A10-6C3F73BEE509}" srcId="{0A2E1BFF-BB85-4D34-89AC-0493947B6A13}" destId="{B55A392B-6BA8-4592-9E82-A0870BAB9D96}" srcOrd="2" destOrd="0" parTransId="{EE729619-85AF-418A-9384-14FEC3FEC26E}" sibTransId="{02E50DDA-0D0A-462E-AB82-1B80D6446869}"/>
    <dgm:cxn modelId="{EA788625-4F22-4BE9-A271-EEC25D87CCAE}" type="presOf" srcId="{5A74410B-1503-49E1-8962-32F80D439C7C}" destId="{6B30C63A-6C9A-498F-89BB-C485A53058AF}" srcOrd="0" destOrd="0" presId="urn:microsoft.com/office/officeart/2005/8/layout/vList2"/>
    <dgm:cxn modelId="{B463EE39-FC35-45DF-BB9E-2B692779B2AA}" srcId="{0A2E1BFF-BB85-4D34-89AC-0493947B6A13}" destId="{08F0A143-EA5E-490E-9790-D621BA0D0BF9}" srcOrd="0" destOrd="0" parTransId="{B6897C1A-7621-4872-B5A2-17350ABAC382}" sibTransId="{00990F64-3F85-44BA-B440-6C0C099F8CC7}"/>
    <dgm:cxn modelId="{CCEBFE5D-9F70-4EED-ADDF-9D3F7908A1C1}" srcId="{0A2E1BFF-BB85-4D34-89AC-0493947B6A13}" destId="{5A74410B-1503-49E1-8962-32F80D439C7C}" srcOrd="3" destOrd="0" parTransId="{C5979D1F-644F-4EBD-966C-7DE2162A77B8}" sibTransId="{0C4D60D5-B111-4797-ADEB-15402547D6E5}"/>
    <dgm:cxn modelId="{E64BAB66-DBB7-4D0E-9C15-582366A53549}" type="presOf" srcId="{08F0A143-EA5E-490E-9790-D621BA0D0BF9}" destId="{243D304C-7F15-46B7-90CA-0F5CF58C86AE}" srcOrd="0" destOrd="0" presId="urn:microsoft.com/office/officeart/2005/8/layout/vList2"/>
    <dgm:cxn modelId="{5C404C50-2D45-44AD-A9B4-512339563AAA}" type="presOf" srcId="{B55A392B-6BA8-4592-9E82-A0870BAB9D96}" destId="{F3CEC12A-DAEE-489D-A00F-4A6300288715}" srcOrd="0" destOrd="0" presId="urn:microsoft.com/office/officeart/2005/8/layout/vList2"/>
    <dgm:cxn modelId="{95A837A3-6DB6-4DED-A9C4-5F112F936C10}" type="presOf" srcId="{E8EDD4E0-E749-4730-A075-19C9AF48498F}" destId="{8D81FA39-7D05-4E5B-9C88-2CC0E4CCEBA1}" srcOrd="0" destOrd="0" presId="urn:microsoft.com/office/officeart/2005/8/layout/vList2"/>
    <dgm:cxn modelId="{EA92D0EE-3781-4412-85CF-EDF7C3C50E12}" type="presOf" srcId="{0A2E1BFF-BB85-4D34-89AC-0493947B6A13}" destId="{ED1BE110-7F50-442D-97FD-7D8E41E24EF4}" srcOrd="0" destOrd="0" presId="urn:microsoft.com/office/officeart/2005/8/layout/vList2"/>
    <dgm:cxn modelId="{412AA2F9-9732-4931-B01E-96034D70F605}" srcId="{0A2E1BFF-BB85-4D34-89AC-0493947B6A13}" destId="{E8EDD4E0-E749-4730-A075-19C9AF48498F}" srcOrd="1" destOrd="0" parTransId="{BBCEE747-2379-4FA2-88EB-799D1E294670}" sibTransId="{7340C3F0-C675-46C0-B963-C19CB59B99AF}"/>
    <dgm:cxn modelId="{6AE58C7F-7732-45F3-AC05-ADDB81CFC59F}" type="presParOf" srcId="{ED1BE110-7F50-442D-97FD-7D8E41E24EF4}" destId="{243D304C-7F15-46B7-90CA-0F5CF58C86AE}" srcOrd="0" destOrd="0" presId="urn:microsoft.com/office/officeart/2005/8/layout/vList2"/>
    <dgm:cxn modelId="{39D0B1FA-4442-4C01-A616-755050256BFB}" type="presParOf" srcId="{ED1BE110-7F50-442D-97FD-7D8E41E24EF4}" destId="{AD5F28F0-A5B7-4B99-A447-D0B2F4856621}" srcOrd="1" destOrd="0" presId="urn:microsoft.com/office/officeart/2005/8/layout/vList2"/>
    <dgm:cxn modelId="{7511F529-F24C-478F-8B31-E1C390F96778}" type="presParOf" srcId="{ED1BE110-7F50-442D-97FD-7D8E41E24EF4}" destId="{8D81FA39-7D05-4E5B-9C88-2CC0E4CCEBA1}" srcOrd="2" destOrd="0" presId="urn:microsoft.com/office/officeart/2005/8/layout/vList2"/>
    <dgm:cxn modelId="{B3922A8F-1908-4906-BA52-49DE3EA53739}" type="presParOf" srcId="{ED1BE110-7F50-442D-97FD-7D8E41E24EF4}" destId="{FCFFDB88-FBFC-4105-9A39-8D55493CC89E}" srcOrd="3" destOrd="0" presId="urn:microsoft.com/office/officeart/2005/8/layout/vList2"/>
    <dgm:cxn modelId="{2B094EF1-6B31-4D50-B76D-177D830F7E3D}" type="presParOf" srcId="{ED1BE110-7F50-442D-97FD-7D8E41E24EF4}" destId="{F3CEC12A-DAEE-489D-A00F-4A6300288715}" srcOrd="4" destOrd="0" presId="urn:microsoft.com/office/officeart/2005/8/layout/vList2"/>
    <dgm:cxn modelId="{CB7F105A-682B-47A1-A311-D37F6378FBBD}" type="presParOf" srcId="{ED1BE110-7F50-442D-97FD-7D8E41E24EF4}" destId="{6B61F90A-1524-4480-974A-E92A29EC2136}" srcOrd="5" destOrd="0" presId="urn:microsoft.com/office/officeart/2005/8/layout/vList2"/>
    <dgm:cxn modelId="{79669463-1BA1-4842-80E2-E5230A1CD95A}" type="presParOf" srcId="{ED1BE110-7F50-442D-97FD-7D8E41E24EF4}" destId="{6B30C63A-6C9A-498F-89BB-C485A53058AF}"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A07FA9-11E2-44CE-B4FF-3BB2D874128A}">
      <dsp:nvSpPr>
        <dsp:cNvPr id="0" name=""/>
        <dsp:cNvSpPr/>
      </dsp:nvSpPr>
      <dsp:spPr>
        <a:xfrm>
          <a:off x="7830" y="1449828"/>
          <a:ext cx="4239840" cy="254390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Digital libraries store large collections of books and digital resources</a:t>
          </a:r>
          <a:r>
            <a:rPr lang="en-IN" sz="2400" kern="1200" dirty="0"/>
            <a:t>, making efficient data organisation and retrieval essential for smooth operation. </a:t>
          </a:r>
        </a:p>
      </dsp:txBody>
      <dsp:txXfrm>
        <a:off x="7830" y="1449828"/>
        <a:ext cx="4239840" cy="2543904"/>
      </dsp:txXfrm>
    </dsp:sp>
    <dsp:sp modelId="{92BFB1D7-D6D0-453D-81C7-BAA54ACCE952}">
      <dsp:nvSpPr>
        <dsp:cNvPr id="0" name=""/>
        <dsp:cNvSpPr/>
      </dsp:nvSpPr>
      <dsp:spPr>
        <a:xfrm>
          <a:off x="4671655" y="1449828"/>
          <a:ext cx="4239840" cy="254390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Each book is identified by a unique ISBN (International Standard Book Number)</a:t>
          </a:r>
          <a:r>
            <a:rPr lang="en-IN" sz="2400" kern="1200" dirty="0"/>
            <a:t>, which serves as a reliable key for searching specific book records. </a:t>
          </a:r>
        </a:p>
      </dsp:txBody>
      <dsp:txXfrm>
        <a:off x="4671655" y="1449828"/>
        <a:ext cx="4239840" cy="2543904"/>
      </dsp:txXfrm>
    </dsp:sp>
    <dsp:sp modelId="{3A750F0B-EA4F-493B-A074-60CC7D9930A5}">
      <dsp:nvSpPr>
        <dsp:cNvPr id="0" name=""/>
        <dsp:cNvSpPr/>
      </dsp:nvSpPr>
      <dsp:spPr>
        <a:xfrm>
          <a:off x="9335479" y="1449828"/>
          <a:ext cx="4239840" cy="254390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As the number of records increases (e.g., 50,000 books), search efficiency becomes a critical factor</a:t>
          </a:r>
          <a:r>
            <a:rPr lang="en-IN" sz="2400" kern="1200" dirty="0"/>
            <a:t> in ensuring quick access to information. </a:t>
          </a:r>
        </a:p>
      </dsp:txBody>
      <dsp:txXfrm>
        <a:off x="9335479" y="1449828"/>
        <a:ext cx="4239840" cy="2543904"/>
      </dsp:txXfrm>
    </dsp:sp>
    <dsp:sp modelId="{A14F33DB-0995-41EC-97B8-247E8A63477D}">
      <dsp:nvSpPr>
        <dsp:cNvPr id="0" name=""/>
        <dsp:cNvSpPr/>
      </dsp:nvSpPr>
      <dsp:spPr>
        <a:xfrm>
          <a:off x="13999304" y="1449828"/>
          <a:ext cx="4239840" cy="254390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The choice of data structure directly affects search performance</a:t>
          </a:r>
          <a:r>
            <a:rPr lang="en-IN" sz="2400" kern="1200" dirty="0"/>
            <a:t>, memory usage, and the overall responsiveness of the library management system. </a:t>
          </a:r>
        </a:p>
      </dsp:txBody>
      <dsp:txXfrm>
        <a:off x="13999304" y="1449828"/>
        <a:ext cx="4239840" cy="2543904"/>
      </dsp:txXfrm>
    </dsp:sp>
    <dsp:sp modelId="{89AFFC09-69D0-4CD8-B9D4-69235FD10511}">
      <dsp:nvSpPr>
        <dsp:cNvPr id="0" name=""/>
        <dsp:cNvSpPr/>
      </dsp:nvSpPr>
      <dsp:spPr>
        <a:xfrm>
          <a:off x="18663128" y="1449828"/>
          <a:ext cx="4239840" cy="2543904"/>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a:t>This presentation evaluates different data structures using time complexity analysis</a:t>
          </a:r>
          <a:r>
            <a:rPr lang="en-IN" sz="2400" kern="1200"/>
            <a:t> and justifies why a </a:t>
          </a:r>
          <a:r>
            <a:rPr lang="en-IN" sz="2400" b="1" kern="1200"/>
            <a:t>Hash Table</a:t>
          </a:r>
          <a:r>
            <a:rPr lang="en-IN" sz="2400" kern="1200"/>
            <a:t> is the most suitable choice for fast ISBN-based book searches.</a:t>
          </a:r>
          <a:endParaRPr lang="en-IN" sz="2400" kern="1200" dirty="0"/>
        </a:p>
      </dsp:txBody>
      <dsp:txXfrm>
        <a:off x="18663128" y="1449828"/>
        <a:ext cx="4239840" cy="25439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3D304C-7F15-46B7-90CA-0F5CF58C86AE}">
      <dsp:nvSpPr>
        <dsp:cNvPr id="0" name=""/>
        <dsp:cNvSpPr/>
      </dsp:nvSpPr>
      <dsp:spPr>
        <a:xfrm>
          <a:off x="0" y="433591"/>
          <a:ext cx="18304935" cy="1882237"/>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IN" sz="3600" b="0" kern="1200" dirty="0">
              <a:latin typeface="Times New Roman" panose="02020603050405020304" pitchFamily="18" charset="0"/>
              <a:cs typeface="Times New Roman" panose="02020603050405020304" pitchFamily="18" charset="0"/>
            </a:rPr>
            <a:t>A digital library contains approximately 50,000 book records, making efficient data retrieval a significant challenge as the database grows. </a:t>
          </a:r>
        </a:p>
      </dsp:txBody>
      <dsp:txXfrm>
        <a:off x="91883" y="525474"/>
        <a:ext cx="18121169" cy="1698471"/>
      </dsp:txXfrm>
    </dsp:sp>
    <dsp:sp modelId="{8D81FA39-7D05-4E5B-9C88-2CC0E4CCEBA1}">
      <dsp:nvSpPr>
        <dsp:cNvPr id="0" name=""/>
        <dsp:cNvSpPr/>
      </dsp:nvSpPr>
      <dsp:spPr>
        <a:xfrm>
          <a:off x="0" y="2503029"/>
          <a:ext cx="18304935" cy="1882237"/>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IN" sz="3600" b="0" kern="1200" dirty="0">
              <a:latin typeface="Times New Roman" panose="02020603050405020304" pitchFamily="18" charset="0"/>
              <a:cs typeface="Times New Roman" panose="02020603050405020304" pitchFamily="18" charset="0"/>
            </a:rPr>
            <a:t>Users frequently search for books using ISBN numbers, and the system is expected to return accurate results with minimal response time.</a:t>
          </a:r>
        </a:p>
      </dsp:txBody>
      <dsp:txXfrm>
        <a:off x="91883" y="2594912"/>
        <a:ext cx="18121169" cy="1698471"/>
      </dsp:txXfrm>
    </dsp:sp>
    <dsp:sp modelId="{F3CEC12A-DAEE-489D-A00F-4A6300288715}">
      <dsp:nvSpPr>
        <dsp:cNvPr id="0" name=""/>
        <dsp:cNvSpPr/>
      </dsp:nvSpPr>
      <dsp:spPr>
        <a:xfrm>
          <a:off x="0" y="4572466"/>
          <a:ext cx="18304935" cy="1882237"/>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IN" sz="3600" b="0" kern="1200" dirty="0">
              <a:latin typeface="Times New Roman" panose="02020603050405020304" pitchFamily="18" charset="0"/>
              <a:cs typeface="Times New Roman" panose="02020603050405020304" pitchFamily="18" charset="0"/>
            </a:rPr>
            <a:t> Traditional data structures such as arrays or linked lists require linear searching, which becomes inefficient and time-consuming for large datasets. Selecting an inappropriate data structure can lead to increased search time, reduced system performance, and a poor user experience. </a:t>
          </a:r>
        </a:p>
      </dsp:txBody>
      <dsp:txXfrm>
        <a:off x="91883" y="4664349"/>
        <a:ext cx="18121169" cy="1698471"/>
      </dsp:txXfrm>
    </dsp:sp>
    <dsp:sp modelId="{6B30C63A-6C9A-498F-89BB-C485A53058AF}">
      <dsp:nvSpPr>
        <dsp:cNvPr id="0" name=""/>
        <dsp:cNvSpPr/>
      </dsp:nvSpPr>
      <dsp:spPr>
        <a:xfrm>
          <a:off x="0" y="6641904"/>
          <a:ext cx="18304935" cy="1882237"/>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IN" sz="3600" b="0" kern="1200" dirty="0">
              <a:latin typeface="Times New Roman" panose="02020603050405020304" pitchFamily="18" charset="0"/>
              <a:cs typeface="Times New Roman" panose="02020603050405020304" pitchFamily="18" charset="0"/>
            </a:rPr>
            <a:t>Therefore, it is essential to identify and implement the most suitable data structure based on time complexity to enable fast, scalable, and efficient ISBN-based book searches.</a:t>
          </a:r>
        </a:p>
      </dsp:txBody>
      <dsp:txXfrm>
        <a:off x="91883" y="6733787"/>
        <a:ext cx="18121169" cy="169847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1pPr>
            <a:lvl2pPr marL="914400" marR="0" lvl="1"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2pPr>
            <a:lvl3pPr marL="1371600" marR="0" lvl="2"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3pPr>
            <a:lvl4pPr marL="1828800" marR="0" lvl="3"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4pPr>
            <a:lvl5pPr marL="2286000" marR="0" lvl="4"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6B8D45BC-7CFF-D0FD-BF1E-F95A70E793EA}"/>
            </a:ext>
          </a:extLst>
        </p:cNvPr>
        <p:cNvGrpSpPr/>
        <p:nvPr/>
      </p:nvGrpSpPr>
      <p:grpSpPr>
        <a:xfrm>
          <a:off x="0" y="0"/>
          <a:ext cx="0" cy="0"/>
          <a:chOff x="0" y="0"/>
          <a:chExt cx="0" cy="0"/>
        </a:xfrm>
      </p:grpSpPr>
      <p:sp>
        <p:nvSpPr>
          <p:cNvPr id="125" name="Google Shape;125;p7:notes">
            <a:extLst>
              <a:ext uri="{FF2B5EF4-FFF2-40B4-BE49-F238E27FC236}">
                <a16:creationId xmlns:a16="http://schemas.microsoft.com/office/drawing/2014/main" id="{A994E1BF-18DD-C6F7-AC94-1333030B1141}"/>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7:notes">
            <a:extLst>
              <a:ext uri="{FF2B5EF4-FFF2-40B4-BE49-F238E27FC236}">
                <a16:creationId xmlns:a16="http://schemas.microsoft.com/office/drawing/2014/main" id="{AF1EC99F-0761-C114-E21C-AB2E3FC951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6818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EE888B45-7457-4A68-916D-8FA9C68B85C2}"/>
            </a:ext>
          </a:extLst>
        </p:cNvPr>
        <p:cNvGrpSpPr/>
        <p:nvPr/>
      </p:nvGrpSpPr>
      <p:grpSpPr>
        <a:xfrm>
          <a:off x="0" y="0"/>
          <a:ext cx="0" cy="0"/>
          <a:chOff x="0" y="0"/>
          <a:chExt cx="0" cy="0"/>
        </a:xfrm>
      </p:grpSpPr>
      <p:sp>
        <p:nvSpPr>
          <p:cNvPr id="125" name="Google Shape;125;p7:notes">
            <a:extLst>
              <a:ext uri="{FF2B5EF4-FFF2-40B4-BE49-F238E27FC236}">
                <a16:creationId xmlns:a16="http://schemas.microsoft.com/office/drawing/2014/main" id="{B1828F8D-9F8F-F38B-53AA-663E18C7B556}"/>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7:notes">
            <a:extLst>
              <a:ext uri="{FF2B5EF4-FFF2-40B4-BE49-F238E27FC236}">
                <a16:creationId xmlns:a16="http://schemas.microsoft.com/office/drawing/2014/main" id="{09E119BC-C7DA-E8E0-5590-5E4D883E6D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6662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63EE6D9D-55F5-49E1-8107-4C6D065E2FA1}"/>
            </a:ext>
          </a:extLst>
        </p:cNvPr>
        <p:cNvGrpSpPr/>
        <p:nvPr/>
      </p:nvGrpSpPr>
      <p:grpSpPr>
        <a:xfrm>
          <a:off x="0" y="0"/>
          <a:ext cx="0" cy="0"/>
          <a:chOff x="0" y="0"/>
          <a:chExt cx="0" cy="0"/>
        </a:xfrm>
      </p:grpSpPr>
      <p:sp>
        <p:nvSpPr>
          <p:cNvPr id="125" name="Google Shape;125;p7:notes">
            <a:extLst>
              <a:ext uri="{FF2B5EF4-FFF2-40B4-BE49-F238E27FC236}">
                <a16:creationId xmlns:a16="http://schemas.microsoft.com/office/drawing/2014/main" id="{0CAAE03D-7E16-D02C-7B48-FDF2879B2CFC}"/>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7:notes">
            <a:extLst>
              <a:ext uri="{FF2B5EF4-FFF2-40B4-BE49-F238E27FC236}">
                <a16:creationId xmlns:a16="http://schemas.microsoft.com/office/drawing/2014/main" id="{E74856FE-EDBB-D3EA-DB4E-2D822F7CCF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88834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type="title">
  <p:cSld name="TITLE">
    <p:spTree>
      <p:nvGrpSpPr>
        <p:cNvPr id="1" name="Shape 11"/>
        <p:cNvGrpSpPr/>
        <p:nvPr/>
      </p:nvGrpSpPr>
      <p:grpSpPr>
        <a:xfrm>
          <a:off x="0" y="0"/>
          <a:ext cx="0" cy="0"/>
          <a:chOff x="0" y="0"/>
          <a:chExt cx="0" cy="0"/>
        </a:xfrm>
      </p:grpSpPr>
      <p:sp>
        <p:nvSpPr>
          <p:cNvPr id="12" name="Google Shape;12;p14"/>
          <p:cNvSpPr txBox="1">
            <a:spLocks noGrp="1"/>
          </p:cNvSpPr>
          <p:nvPr>
            <p:ph type="body" idx="1"/>
          </p:nvPr>
        </p:nvSpPr>
        <p:spPr>
          <a:xfrm>
            <a:off x="1201340" y="11859862"/>
            <a:ext cx="21971100" cy="6369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3" name="Google Shape;13;p14"/>
          <p:cNvSpPr txBox="1">
            <a:spLocks noGrp="1"/>
          </p:cNvSpPr>
          <p:nvPr>
            <p:ph type="title"/>
          </p:nvPr>
        </p:nvSpPr>
        <p:spPr>
          <a:xfrm>
            <a:off x="1206496" y="2574991"/>
            <a:ext cx="21971100" cy="4648200"/>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1600"/>
              <a:buFont typeface="Helvetica Neue"/>
              <a:buNone/>
              <a:defRPr sz="116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14" name="Google Shape;14;p14"/>
          <p:cNvSpPr txBox="1">
            <a:spLocks noGrp="1"/>
          </p:cNvSpPr>
          <p:nvPr>
            <p:ph type="body" idx="2"/>
          </p:nvPr>
        </p:nvSpPr>
        <p:spPr>
          <a:xfrm>
            <a:off x="1201342" y="7223190"/>
            <a:ext cx="21971100" cy="19050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pic>
        <p:nvPicPr>
          <p:cNvPr id="15" name="Google Shape;15;p14" descr="pasted-movie.heif"/>
          <p:cNvPicPr preferRelativeResize="0"/>
          <p:nvPr/>
        </p:nvPicPr>
        <p:blipFill rotWithShape="1">
          <a:blip r:embed="rId2">
            <a:alphaModFix/>
          </a:blip>
          <a:srcRect t="388" r="85449" b="9056"/>
          <a:stretch/>
        </p:blipFill>
        <p:spPr>
          <a:xfrm>
            <a:off x="153721" y="-43900"/>
            <a:ext cx="1996582" cy="2236229"/>
          </a:xfrm>
          <a:prstGeom prst="rect">
            <a:avLst/>
          </a:prstGeom>
          <a:noFill/>
          <a:ln>
            <a:noFill/>
          </a:ln>
        </p:spPr>
      </p:pic>
      <p:pic>
        <p:nvPicPr>
          <p:cNvPr id="16" name="Google Shape;16;p14" descr="pasted-movie.heif"/>
          <p:cNvPicPr preferRelativeResize="0"/>
          <p:nvPr/>
        </p:nvPicPr>
        <p:blipFill rotWithShape="1">
          <a:blip r:embed="rId2">
            <a:alphaModFix/>
          </a:blip>
          <a:srcRect l="50059" r="34355" b="9675"/>
          <a:stretch/>
        </p:blipFill>
        <p:spPr>
          <a:xfrm>
            <a:off x="22190187" y="213870"/>
            <a:ext cx="1649695" cy="1720655"/>
          </a:xfrm>
          <a:prstGeom prst="rect">
            <a:avLst/>
          </a:prstGeom>
          <a:noFill/>
          <a:ln>
            <a:noFill/>
          </a:ln>
        </p:spPr>
      </p:pic>
      <p:sp>
        <p:nvSpPr>
          <p:cNvPr id="17" name="Google Shape;17;p14"/>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Bullets" type="tx">
  <p:cSld name="TITLE_AND_BODY">
    <p:spTree>
      <p:nvGrpSpPr>
        <p:cNvPr id="1" name="Shape 18"/>
        <p:cNvGrpSpPr/>
        <p:nvPr/>
      </p:nvGrpSpPr>
      <p:grpSpPr>
        <a:xfrm>
          <a:off x="0" y="0"/>
          <a:ext cx="0" cy="0"/>
          <a:chOff x="0" y="0"/>
          <a:chExt cx="0" cy="0"/>
        </a:xfrm>
      </p:grpSpPr>
      <p:sp>
        <p:nvSpPr>
          <p:cNvPr id="19" name="Google Shape;19;p15"/>
          <p:cNvSpPr txBox="1">
            <a:spLocks noGrp="1"/>
          </p:cNvSpPr>
          <p:nvPr>
            <p:ph type="title"/>
          </p:nvPr>
        </p:nvSpPr>
        <p:spPr>
          <a:xfrm>
            <a:off x="1206500" y="1079500"/>
            <a:ext cx="21971100" cy="14331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20" name="Google Shape;20;p15"/>
          <p:cNvSpPr txBox="1">
            <a:spLocks noGrp="1"/>
          </p:cNvSpPr>
          <p:nvPr>
            <p:ph type="body" idx="1"/>
          </p:nvPr>
        </p:nvSpPr>
        <p:spPr>
          <a:xfrm>
            <a:off x="1206500" y="2372962"/>
            <a:ext cx="21971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1" name="Google Shape;21;p15"/>
          <p:cNvSpPr txBox="1">
            <a:spLocks noGrp="1"/>
          </p:cNvSpPr>
          <p:nvPr>
            <p:ph type="body" idx="2"/>
          </p:nvPr>
        </p:nvSpPr>
        <p:spPr>
          <a:xfrm>
            <a:off x="1206500" y="4248504"/>
            <a:ext cx="21971100" cy="82560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2" name="Google Shape;22;p15"/>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amp; Photo">
  <p:cSld name="Title &amp; Photo">
    <p:spTree>
      <p:nvGrpSpPr>
        <p:cNvPr id="1" name="Shape 23"/>
        <p:cNvGrpSpPr/>
        <p:nvPr/>
      </p:nvGrpSpPr>
      <p:grpSpPr>
        <a:xfrm>
          <a:off x="0" y="0"/>
          <a:ext cx="0" cy="0"/>
          <a:chOff x="0" y="0"/>
          <a:chExt cx="0" cy="0"/>
        </a:xfrm>
      </p:grpSpPr>
      <p:sp>
        <p:nvSpPr>
          <p:cNvPr id="24" name="Google Shape;24;p16"/>
          <p:cNvSpPr>
            <a:spLocks noGrp="1"/>
          </p:cNvSpPr>
          <p:nvPr>
            <p:ph type="pic" idx="2"/>
          </p:nvPr>
        </p:nvSpPr>
        <p:spPr>
          <a:xfrm>
            <a:off x="-1155700" y="-1295400"/>
            <a:ext cx="26746200" cy="16018800"/>
          </a:xfrm>
          <a:prstGeom prst="rect">
            <a:avLst/>
          </a:prstGeom>
          <a:noFill/>
          <a:ln>
            <a:noFill/>
          </a:ln>
        </p:spPr>
      </p:sp>
      <p:sp>
        <p:nvSpPr>
          <p:cNvPr id="25" name="Google Shape;25;p16"/>
          <p:cNvSpPr txBox="1">
            <a:spLocks noGrp="1"/>
          </p:cNvSpPr>
          <p:nvPr>
            <p:ph type="title"/>
          </p:nvPr>
        </p:nvSpPr>
        <p:spPr>
          <a:xfrm>
            <a:off x="1206500" y="7124700"/>
            <a:ext cx="21971100" cy="4648200"/>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1600"/>
              <a:buFont typeface="Helvetica Neue"/>
              <a:buNone/>
              <a:defRPr sz="116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26" name="Google Shape;26;p16"/>
          <p:cNvSpPr txBox="1">
            <a:spLocks noGrp="1"/>
          </p:cNvSpPr>
          <p:nvPr>
            <p:ph type="body" idx="1"/>
          </p:nvPr>
        </p:nvSpPr>
        <p:spPr>
          <a:xfrm>
            <a:off x="1207690" y="1106137"/>
            <a:ext cx="21968700" cy="6369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7" name="Google Shape;27;p16"/>
          <p:cNvSpPr txBox="1">
            <a:spLocks noGrp="1"/>
          </p:cNvSpPr>
          <p:nvPr>
            <p:ph type="body" idx="3"/>
          </p:nvPr>
        </p:nvSpPr>
        <p:spPr>
          <a:xfrm>
            <a:off x="1206500" y="11609910"/>
            <a:ext cx="21971100" cy="11169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8" name="Google Shape;28;p16"/>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amp; Photo Alt">
  <p:cSld name="Title &amp; Photo Alt">
    <p:spTree>
      <p:nvGrpSpPr>
        <p:cNvPr id="1" name="Shape 29"/>
        <p:cNvGrpSpPr/>
        <p:nvPr/>
      </p:nvGrpSpPr>
      <p:grpSpPr>
        <a:xfrm>
          <a:off x="0" y="0"/>
          <a:ext cx="0" cy="0"/>
          <a:chOff x="0" y="0"/>
          <a:chExt cx="0" cy="0"/>
        </a:xfrm>
      </p:grpSpPr>
      <p:sp>
        <p:nvSpPr>
          <p:cNvPr id="30" name="Google Shape;30;p17"/>
          <p:cNvSpPr>
            <a:spLocks noGrp="1"/>
          </p:cNvSpPr>
          <p:nvPr>
            <p:ph type="pic" idx="2"/>
          </p:nvPr>
        </p:nvSpPr>
        <p:spPr>
          <a:xfrm>
            <a:off x="10972800" y="-203200"/>
            <a:ext cx="12144900" cy="14135100"/>
          </a:xfrm>
          <a:prstGeom prst="rect">
            <a:avLst/>
          </a:prstGeom>
          <a:noFill/>
          <a:ln>
            <a:noFill/>
          </a:ln>
        </p:spPr>
      </p:sp>
      <p:sp>
        <p:nvSpPr>
          <p:cNvPr id="31" name="Google Shape;31;p17"/>
          <p:cNvSpPr txBox="1">
            <a:spLocks noGrp="1"/>
          </p:cNvSpPr>
          <p:nvPr>
            <p:ph type="title"/>
          </p:nvPr>
        </p:nvSpPr>
        <p:spPr>
          <a:xfrm>
            <a:off x="1206500" y="1270000"/>
            <a:ext cx="9779100" cy="5882400"/>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32" name="Google Shape;32;p17"/>
          <p:cNvSpPr txBox="1">
            <a:spLocks noGrp="1"/>
          </p:cNvSpPr>
          <p:nvPr>
            <p:ph type="body" idx="1"/>
          </p:nvPr>
        </p:nvSpPr>
        <p:spPr>
          <a:xfrm>
            <a:off x="1206500" y="7060576"/>
            <a:ext cx="9779100" cy="53853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3" name="Google Shape;33;p17"/>
          <p:cNvSpPr txBox="1">
            <a:spLocks noGrp="1"/>
          </p:cNvSpPr>
          <p:nvPr>
            <p:ph type="sldNum" idx="12"/>
          </p:nvPr>
        </p:nvSpPr>
        <p:spPr>
          <a:xfrm>
            <a:off x="12001499" y="13085233"/>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Bullets">
  <p:cSld name="Bullets">
    <p:spTree>
      <p:nvGrpSpPr>
        <p:cNvPr id="1" name="Shape 34"/>
        <p:cNvGrpSpPr/>
        <p:nvPr/>
      </p:nvGrpSpPr>
      <p:grpSpPr>
        <a:xfrm>
          <a:off x="0" y="0"/>
          <a:ext cx="0" cy="0"/>
          <a:chOff x="0" y="0"/>
          <a:chExt cx="0" cy="0"/>
        </a:xfrm>
      </p:grpSpPr>
      <p:sp>
        <p:nvSpPr>
          <p:cNvPr id="35" name="Google Shape;35;p18"/>
          <p:cNvSpPr txBox="1">
            <a:spLocks noGrp="1"/>
          </p:cNvSpPr>
          <p:nvPr>
            <p:ph type="body" idx="1"/>
          </p:nvPr>
        </p:nvSpPr>
        <p:spPr>
          <a:xfrm>
            <a:off x="1206500" y="4248504"/>
            <a:ext cx="21971100" cy="82560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6" name="Google Shape;36;p18"/>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Bullets &amp; Photo">
  <p:cSld name="Title, Bullets &amp; Photo">
    <p:spTree>
      <p:nvGrpSpPr>
        <p:cNvPr id="1" name="Shape 37"/>
        <p:cNvGrpSpPr/>
        <p:nvPr/>
      </p:nvGrpSpPr>
      <p:grpSpPr>
        <a:xfrm>
          <a:off x="0" y="0"/>
          <a:ext cx="0" cy="0"/>
          <a:chOff x="0" y="0"/>
          <a:chExt cx="0" cy="0"/>
        </a:xfrm>
      </p:grpSpPr>
      <p:sp>
        <p:nvSpPr>
          <p:cNvPr id="38" name="Google Shape;38;p19"/>
          <p:cNvSpPr txBox="1">
            <a:spLocks noGrp="1"/>
          </p:cNvSpPr>
          <p:nvPr>
            <p:ph type="body" idx="1"/>
          </p:nvPr>
        </p:nvSpPr>
        <p:spPr>
          <a:xfrm>
            <a:off x="1206500" y="2372962"/>
            <a:ext cx="9779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9" name="Google Shape;39;p19"/>
          <p:cNvSpPr txBox="1">
            <a:spLocks noGrp="1"/>
          </p:cNvSpPr>
          <p:nvPr>
            <p:ph type="body" idx="2"/>
          </p:nvPr>
        </p:nvSpPr>
        <p:spPr>
          <a:xfrm>
            <a:off x="1206500" y="4248504"/>
            <a:ext cx="9779100" cy="82566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40" name="Google Shape;40;p19"/>
          <p:cNvSpPr>
            <a:spLocks noGrp="1"/>
          </p:cNvSpPr>
          <p:nvPr>
            <p:ph type="pic" idx="3"/>
          </p:nvPr>
        </p:nvSpPr>
        <p:spPr>
          <a:xfrm>
            <a:off x="12192000" y="-407266"/>
            <a:ext cx="10917000" cy="14555700"/>
          </a:xfrm>
          <a:prstGeom prst="rect">
            <a:avLst/>
          </a:prstGeom>
          <a:noFill/>
          <a:ln>
            <a:noFill/>
          </a:ln>
        </p:spPr>
      </p:sp>
      <p:sp>
        <p:nvSpPr>
          <p:cNvPr id="41" name="Google Shape;41;p19"/>
          <p:cNvSpPr txBox="1">
            <a:spLocks noGrp="1"/>
          </p:cNvSpPr>
          <p:nvPr>
            <p:ph type="title"/>
          </p:nvPr>
        </p:nvSpPr>
        <p:spPr>
          <a:xfrm>
            <a:off x="1206500" y="1079500"/>
            <a:ext cx="9779100" cy="14352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42" name="Google Shape;42;p19"/>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Bullets &amp; Live Video Small">
  <p:cSld name="Title, Bullets &amp; Live Video Small">
    <p:spTree>
      <p:nvGrpSpPr>
        <p:cNvPr id="1" name="Shape 43"/>
        <p:cNvGrpSpPr/>
        <p:nvPr/>
      </p:nvGrpSpPr>
      <p:grpSpPr>
        <a:xfrm>
          <a:off x="0" y="0"/>
          <a:ext cx="0" cy="0"/>
          <a:chOff x="0" y="0"/>
          <a:chExt cx="0" cy="0"/>
        </a:xfrm>
      </p:grpSpPr>
      <p:sp>
        <p:nvSpPr>
          <p:cNvPr id="44" name="Google Shape;44;p20"/>
          <p:cNvSpPr txBox="1">
            <a:spLocks noGrp="1"/>
          </p:cNvSpPr>
          <p:nvPr>
            <p:ph type="body" idx="1"/>
          </p:nvPr>
        </p:nvSpPr>
        <p:spPr>
          <a:xfrm>
            <a:off x="1206500" y="2372962"/>
            <a:ext cx="9779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45" name="Google Shape;45;p20"/>
          <p:cNvSpPr txBox="1">
            <a:spLocks noGrp="1"/>
          </p:cNvSpPr>
          <p:nvPr>
            <p:ph type="body" idx="2"/>
          </p:nvPr>
        </p:nvSpPr>
        <p:spPr>
          <a:xfrm>
            <a:off x="1206500" y="4248504"/>
            <a:ext cx="9779100" cy="82566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46" name="Google Shape;46;p20"/>
          <p:cNvSpPr txBox="1">
            <a:spLocks noGrp="1"/>
          </p:cNvSpPr>
          <p:nvPr>
            <p:ph type="title"/>
          </p:nvPr>
        </p:nvSpPr>
        <p:spPr>
          <a:xfrm>
            <a:off x="1206500" y="1079500"/>
            <a:ext cx="9779100" cy="14352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47" name="Google Shape;47;p20"/>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Bullets &amp; Live Video Large">
  <p:cSld name="Title, Bullets &amp; Live Video Large">
    <p:spTree>
      <p:nvGrpSpPr>
        <p:cNvPr id="1" name="Shape 48"/>
        <p:cNvGrpSpPr/>
        <p:nvPr/>
      </p:nvGrpSpPr>
      <p:grpSpPr>
        <a:xfrm>
          <a:off x="0" y="0"/>
          <a:ext cx="0" cy="0"/>
          <a:chOff x="0" y="0"/>
          <a:chExt cx="0" cy="0"/>
        </a:xfrm>
      </p:grpSpPr>
      <p:sp>
        <p:nvSpPr>
          <p:cNvPr id="49" name="Google Shape;49;p21"/>
          <p:cNvSpPr txBox="1">
            <a:spLocks noGrp="1"/>
          </p:cNvSpPr>
          <p:nvPr>
            <p:ph type="body" idx="1"/>
          </p:nvPr>
        </p:nvSpPr>
        <p:spPr>
          <a:xfrm>
            <a:off x="1206500" y="2372962"/>
            <a:ext cx="9779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0" name="Google Shape;50;p21"/>
          <p:cNvSpPr txBox="1">
            <a:spLocks noGrp="1"/>
          </p:cNvSpPr>
          <p:nvPr>
            <p:ph type="body" idx="2"/>
          </p:nvPr>
        </p:nvSpPr>
        <p:spPr>
          <a:xfrm>
            <a:off x="1206500" y="4248504"/>
            <a:ext cx="9779100" cy="82566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1" name="Google Shape;51;p21"/>
          <p:cNvSpPr txBox="1">
            <a:spLocks noGrp="1"/>
          </p:cNvSpPr>
          <p:nvPr>
            <p:ph type="title"/>
          </p:nvPr>
        </p:nvSpPr>
        <p:spPr>
          <a:xfrm>
            <a:off x="1206500" y="1079500"/>
            <a:ext cx="9779100" cy="14352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52" name="Google Shape;52;p21"/>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Section">
  <p:cSld name="Section">
    <p:spTree>
      <p:nvGrpSpPr>
        <p:cNvPr id="1" name="Shape 53"/>
        <p:cNvGrpSpPr/>
        <p:nvPr/>
      </p:nvGrpSpPr>
      <p:grpSpPr>
        <a:xfrm>
          <a:off x="0" y="0"/>
          <a:ext cx="0" cy="0"/>
          <a:chOff x="0" y="0"/>
          <a:chExt cx="0" cy="0"/>
        </a:xfrm>
      </p:grpSpPr>
      <p:sp>
        <p:nvSpPr>
          <p:cNvPr id="54" name="Google Shape;54;p22"/>
          <p:cNvSpPr txBox="1">
            <a:spLocks noGrp="1"/>
          </p:cNvSpPr>
          <p:nvPr>
            <p:ph type="title"/>
          </p:nvPr>
        </p:nvSpPr>
        <p:spPr>
          <a:xfrm>
            <a:off x="1206496" y="4533900"/>
            <a:ext cx="21971100" cy="4648200"/>
          </a:xfrm>
          <a:prstGeom prst="rect">
            <a:avLst/>
          </a:prstGeom>
          <a:noFill/>
          <a:ln>
            <a:noFill/>
          </a:ln>
        </p:spPr>
        <p:txBody>
          <a:bodyPr spcFirstLastPara="1" wrap="square" lIns="50800" tIns="50800" rIns="50800" bIns="50800" anchor="ctr" anchorCtr="0">
            <a:normAutofit/>
          </a:bodyPr>
          <a:lstStyle>
            <a:lvl1pPr lvl="0" algn="l">
              <a:lnSpc>
                <a:spcPct val="80000"/>
              </a:lnSpc>
              <a:spcBef>
                <a:spcPts val="0"/>
              </a:spcBef>
              <a:spcAft>
                <a:spcPts val="0"/>
              </a:spcAft>
              <a:buClr>
                <a:srgbClr val="000000"/>
              </a:buClr>
              <a:buSzPts val="11600"/>
              <a:buFont typeface="Helvetica Neue"/>
              <a:buNone/>
              <a:defRPr sz="11600" b="0">
                <a:latin typeface="Helvetica Neue"/>
                <a:ea typeface="Helvetica Neue"/>
                <a:cs typeface="Helvetica Neue"/>
                <a:sym typeface="Helvetica Neu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55" name="Google Shape;55;p22"/>
          <p:cNvSpPr txBox="1">
            <a:spLocks noGrp="1"/>
          </p:cNvSpPr>
          <p:nvPr>
            <p:ph type="sldNum" idx="12"/>
          </p:nvPr>
        </p:nvSpPr>
        <p:spPr>
          <a:xfrm>
            <a:off x="12001499" y="13085233"/>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Only">
  <p:cSld name="Title Only">
    <p:spTree>
      <p:nvGrpSpPr>
        <p:cNvPr id="1" name="Shape 56"/>
        <p:cNvGrpSpPr/>
        <p:nvPr/>
      </p:nvGrpSpPr>
      <p:grpSpPr>
        <a:xfrm>
          <a:off x="0" y="0"/>
          <a:ext cx="0" cy="0"/>
          <a:chOff x="0" y="0"/>
          <a:chExt cx="0" cy="0"/>
        </a:xfrm>
      </p:grpSpPr>
      <p:sp>
        <p:nvSpPr>
          <p:cNvPr id="57" name="Google Shape;57;p23"/>
          <p:cNvSpPr txBox="1">
            <a:spLocks noGrp="1"/>
          </p:cNvSpPr>
          <p:nvPr>
            <p:ph type="title"/>
          </p:nvPr>
        </p:nvSpPr>
        <p:spPr>
          <a:xfrm>
            <a:off x="1206500" y="1079500"/>
            <a:ext cx="21971100" cy="14349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58" name="Google Shape;58;p23"/>
          <p:cNvSpPr txBox="1">
            <a:spLocks noGrp="1"/>
          </p:cNvSpPr>
          <p:nvPr>
            <p:ph type="body" idx="1"/>
          </p:nvPr>
        </p:nvSpPr>
        <p:spPr>
          <a:xfrm>
            <a:off x="1206500" y="2372962"/>
            <a:ext cx="21971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9" name="Google Shape;59;p23"/>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Agenda">
  <p:cSld name="Agenda">
    <p:spTree>
      <p:nvGrpSpPr>
        <p:cNvPr id="1" name="Shape 60"/>
        <p:cNvGrpSpPr/>
        <p:nvPr/>
      </p:nvGrpSpPr>
      <p:grpSpPr>
        <a:xfrm>
          <a:off x="0" y="0"/>
          <a:ext cx="0" cy="0"/>
          <a:chOff x="0" y="0"/>
          <a:chExt cx="0" cy="0"/>
        </a:xfrm>
      </p:grpSpPr>
      <p:sp>
        <p:nvSpPr>
          <p:cNvPr id="61" name="Google Shape;61;p24"/>
          <p:cNvSpPr txBox="1">
            <a:spLocks noGrp="1"/>
          </p:cNvSpPr>
          <p:nvPr>
            <p:ph type="title"/>
          </p:nvPr>
        </p:nvSpPr>
        <p:spPr>
          <a:xfrm>
            <a:off x="1206500" y="1079500"/>
            <a:ext cx="21971100" cy="14352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62" name="Google Shape;62;p24"/>
          <p:cNvSpPr txBox="1">
            <a:spLocks noGrp="1"/>
          </p:cNvSpPr>
          <p:nvPr>
            <p:ph type="body" idx="1"/>
          </p:nvPr>
        </p:nvSpPr>
        <p:spPr>
          <a:xfrm>
            <a:off x="1206500" y="2372962"/>
            <a:ext cx="21971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63" name="Google Shape;63;p24"/>
          <p:cNvSpPr txBox="1">
            <a:spLocks noGrp="1"/>
          </p:cNvSpPr>
          <p:nvPr>
            <p:ph type="body" idx="2"/>
          </p:nvPr>
        </p:nvSpPr>
        <p:spPr>
          <a:xfrm>
            <a:off x="1206500" y="4248504"/>
            <a:ext cx="21971100" cy="82560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1800"/>
              </a:spcBef>
              <a:spcAft>
                <a:spcPts val="0"/>
              </a:spcAft>
              <a:buClr>
                <a:srgbClr val="000000"/>
              </a:buClr>
              <a:buSzPts val="5500"/>
              <a:buFont typeface="Helvetica Neue"/>
              <a:buNone/>
              <a:defRPr sz="5500"/>
            </a:lvl1pPr>
            <a:lvl2pPr marL="914400" lvl="1" indent="-228600" algn="l">
              <a:lnSpc>
                <a:spcPct val="100000"/>
              </a:lnSpc>
              <a:spcBef>
                <a:spcPts val="1800"/>
              </a:spcBef>
              <a:spcAft>
                <a:spcPts val="0"/>
              </a:spcAft>
              <a:buClr>
                <a:srgbClr val="000000"/>
              </a:buClr>
              <a:buSzPts val="5500"/>
              <a:buFont typeface="Helvetica Neue"/>
              <a:buNone/>
              <a:defRPr sz="5500"/>
            </a:lvl2pPr>
            <a:lvl3pPr marL="1371600" lvl="2" indent="-228600" algn="l">
              <a:lnSpc>
                <a:spcPct val="100000"/>
              </a:lnSpc>
              <a:spcBef>
                <a:spcPts val="1800"/>
              </a:spcBef>
              <a:spcAft>
                <a:spcPts val="0"/>
              </a:spcAft>
              <a:buClr>
                <a:srgbClr val="000000"/>
              </a:buClr>
              <a:buSzPts val="5500"/>
              <a:buFont typeface="Helvetica Neue"/>
              <a:buNone/>
              <a:defRPr sz="5500"/>
            </a:lvl3pPr>
            <a:lvl4pPr marL="1828800" lvl="3" indent="-228600" algn="l">
              <a:lnSpc>
                <a:spcPct val="100000"/>
              </a:lnSpc>
              <a:spcBef>
                <a:spcPts val="1800"/>
              </a:spcBef>
              <a:spcAft>
                <a:spcPts val="0"/>
              </a:spcAft>
              <a:buClr>
                <a:srgbClr val="000000"/>
              </a:buClr>
              <a:buSzPts val="5500"/>
              <a:buFont typeface="Helvetica Neue"/>
              <a:buNone/>
              <a:defRPr sz="5500"/>
            </a:lvl4pPr>
            <a:lvl5pPr marL="2286000" lvl="4" indent="-228600" algn="l">
              <a:lnSpc>
                <a:spcPct val="100000"/>
              </a:lnSpc>
              <a:spcBef>
                <a:spcPts val="1800"/>
              </a:spcBef>
              <a:spcAft>
                <a:spcPts val="0"/>
              </a:spcAft>
              <a:buClr>
                <a:srgbClr val="000000"/>
              </a:buClr>
              <a:buSzPts val="5500"/>
              <a:buFont typeface="Helvetica Neue"/>
              <a:buNone/>
              <a:defRPr sz="5500"/>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64" name="Google Shape;64;p24"/>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Big Fact">
  <p:cSld name="Big Fact">
    <p:spTree>
      <p:nvGrpSpPr>
        <p:cNvPr id="1" name="Shape 68"/>
        <p:cNvGrpSpPr/>
        <p:nvPr/>
      </p:nvGrpSpPr>
      <p:grpSpPr>
        <a:xfrm>
          <a:off x="0" y="0"/>
          <a:ext cx="0" cy="0"/>
          <a:chOff x="0" y="0"/>
          <a:chExt cx="0" cy="0"/>
        </a:xfrm>
      </p:grpSpPr>
      <p:sp>
        <p:nvSpPr>
          <p:cNvPr id="69" name="Google Shape;69;p26"/>
          <p:cNvSpPr txBox="1">
            <a:spLocks noGrp="1"/>
          </p:cNvSpPr>
          <p:nvPr>
            <p:ph type="body" idx="1"/>
          </p:nvPr>
        </p:nvSpPr>
        <p:spPr>
          <a:xfrm>
            <a:off x="1206500" y="1075927"/>
            <a:ext cx="21971100" cy="7241700"/>
          </a:xfrm>
          <a:prstGeom prst="rect">
            <a:avLst/>
          </a:prstGeom>
          <a:noFill/>
          <a:ln>
            <a:noFill/>
          </a:ln>
        </p:spPr>
        <p:txBody>
          <a:bodyPr spcFirstLastPara="1" wrap="square" lIns="50800" tIns="50800" rIns="50800" bIns="50800" anchor="b" anchorCtr="0">
            <a:normAutofit/>
          </a:bodyPr>
          <a:lstStyle>
            <a:lvl1pPr marL="457200" lvl="0" indent="-228600" algn="ctr">
              <a:lnSpc>
                <a:spcPct val="80000"/>
              </a:lnSpc>
              <a:spcBef>
                <a:spcPts val="0"/>
              </a:spcBef>
              <a:spcAft>
                <a:spcPts val="0"/>
              </a:spcAft>
              <a:buClr>
                <a:srgbClr val="000000"/>
              </a:buClr>
              <a:buSzPts val="25000"/>
              <a:buFont typeface="Helvetica Neue"/>
              <a:buNone/>
              <a:defRPr sz="25000" b="1"/>
            </a:lvl1pPr>
            <a:lvl2pPr marL="914400" lvl="1" indent="-228600" algn="ctr">
              <a:lnSpc>
                <a:spcPct val="80000"/>
              </a:lnSpc>
              <a:spcBef>
                <a:spcPts val="0"/>
              </a:spcBef>
              <a:spcAft>
                <a:spcPts val="0"/>
              </a:spcAft>
              <a:buClr>
                <a:srgbClr val="000000"/>
              </a:buClr>
              <a:buSzPts val="25000"/>
              <a:buFont typeface="Helvetica Neue"/>
              <a:buNone/>
              <a:defRPr sz="25000" b="1"/>
            </a:lvl2pPr>
            <a:lvl3pPr marL="1371600" lvl="2" indent="-228600" algn="ctr">
              <a:lnSpc>
                <a:spcPct val="80000"/>
              </a:lnSpc>
              <a:spcBef>
                <a:spcPts val="0"/>
              </a:spcBef>
              <a:spcAft>
                <a:spcPts val="0"/>
              </a:spcAft>
              <a:buClr>
                <a:srgbClr val="000000"/>
              </a:buClr>
              <a:buSzPts val="25000"/>
              <a:buFont typeface="Helvetica Neue"/>
              <a:buNone/>
              <a:defRPr sz="25000" b="1"/>
            </a:lvl3pPr>
            <a:lvl4pPr marL="1828800" lvl="3" indent="-228600" algn="ctr">
              <a:lnSpc>
                <a:spcPct val="80000"/>
              </a:lnSpc>
              <a:spcBef>
                <a:spcPts val="0"/>
              </a:spcBef>
              <a:spcAft>
                <a:spcPts val="0"/>
              </a:spcAft>
              <a:buClr>
                <a:srgbClr val="000000"/>
              </a:buClr>
              <a:buSzPts val="25000"/>
              <a:buFont typeface="Helvetica Neue"/>
              <a:buNone/>
              <a:defRPr sz="25000" b="1"/>
            </a:lvl4pPr>
            <a:lvl5pPr marL="2286000" lvl="4" indent="-228600" algn="ctr">
              <a:lnSpc>
                <a:spcPct val="80000"/>
              </a:lnSpc>
              <a:spcBef>
                <a:spcPts val="0"/>
              </a:spcBef>
              <a:spcAft>
                <a:spcPts val="0"/>
              </a:spcAft>
              <a:buClr>
                <a:srgbClr val="000000"/>
              </a:buClr>
              <a:buSzPts val="25000"/>
              <a:buFont typeface="Helvetica Neue"/>
              <a:buNone/>
              <a:defRPr sz="250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70" name="Google Shape;70;p26"/>
          <p:cNvSpPr txBox="1">
            <a:spLocks noGrp="1"/>
          </p:cNvSpPr>
          <p:nvPr>
            <p:ph type="body" idx="2"/>
          </p:nvPr>
        </p:nvSpPr>
        <p:spPr>
          <a:xfrm>
            <a:off x="1206500" y="8262180"/>
            <a:ext cx="21971100" cy="934800"/>
          </a:xfrm>
          <a:prstGeom prst="rect">
            <a:avLst/>
          </a:prstGeom>
          <a:noFill/>
          <a:ln>
            <a:noFill/>
          </a:ln>
        </p:spPr>
        <p:txBody>
          <a:bodyPr spcFirstLastPara="1" wrap="square" lIns="45700" tIns="45700" rIns="45700" bIns="45700" anchor="t" anchorCtr="0">
            <a:normAutofit/>
          </a:bodyPr>
          <a:lstStyle>
            <a:lvl1pPr marL="457200" lvl="0" indent="-228600" algn="ctr">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71" name="Google Shape;71;p26"/>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Quote">
  <p:cSld name="Quote">
    <p:spTree>
      <p:nvGrpSpPr>
        <p:cNvPr id="1" name="Shape 72"/>
        <p:cNvGrpSpPr/>
        <p:nvPr/>
      </p:nvGrpSpPr>
      <p:grpSpPr>
        <a:xfrm>
          <a:off x="0" y="0"/>
          <a:ext cx="0" cy="0"/>
          <a:chOff x="0" y="0"/>
          <a:chExt cx="0" cy="0"/>
        </a:xfrm>
      </p:grpSpPr>
      <p:sp>
        <p:nvSpPr>
          <p:cNvPr id="73" name="Google Shape;73;p27"/>
          <p:cNvSpPr txBox="1">
            <a:spLocks noGrp="1"/>
          </p:cNvSpPr>
          <p:nvPr>
            <p:ph type="body" idx="1"/>
          </p:nvPr>
        </p:nvSpPr>
        <p:spPr>
          <a:xfrm>
            <a:off x="2430025" y="10675453"/>
            <a:ext cx="20200200" cy="6369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74" name="Google Shape;74;p27"/>
          <p:cNvSpPr txBox="1">
            <a:spLocks noGrp="1"/>
          </p:cNvSpPr>
          <p:nvPr>
            <p:ph type="body" idx="2"/>
          </p:nvPr>
        </p:nvSpPr>
        <p:spPr>
          <a:xfrm>
            <a:off x="1753923" y="4939860"/>
            <a:ext cx="20876100" cy="3836400"/>
          </a:xfrm>
          <a:prstGeom prst="rect">
            <a:avLst/>
          </a:prstGeom>
          <a:noFill/>
          <a:ln>
            <a:noFill/>
          </a:ln>
        </p:spPr>
        <p:txBody>
          <a:bodyPr spcFirstLastPara="1" wrap="square" lIns="50800" tIns="50800" rIns="50800" bIns="50800" anchor="t" anchorCtr="0">
            <a:normAutofit/>
          </a:bodyPr>
          <a:lstStyle>
            <a:lvl1pPr marL="457200" lvl="0"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1pPr>
            <a:lvl2pPr marL="914400" lvl="1"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2pPr>
            <a:lvl3pPr marL="1371600" lvl="2"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3pPr>
            <a:lvl4pPr marL="1828800" lvl="3"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4pPr>
            <a:lvl5pPr marL="2286000" lvl="4"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75" name="Google Shape;75;p27"/>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Photo - 3 Up">
  <p:cSld name="Photo - 3 Up">
    <p:spTree>
      <p:nvGrpSpPr>
        <p:cNvPr id="1" name="Shape 76"/>
        <p:cNvGrpSpPr/>
        <p:nvPr/>
      </p:nvGrpSpPr>
      <p:grpSpPr>
        <a:xfrm>
          <a:off x="0" y="0"/>
          <a:ext cx="0" cy="0"/>
          <a:chOff x="0" y="0"/>
          <a:chExt cx="0" cy="0"/>
        </a:xfrm>
      </p:grpSpPr>
      <p:sp>
        <p:nvSpPr>
          <p:cNvPr id="77" name="Google Shape;77;p28"/>
          <p:cNvSpPr>
            <a:spLocks noGrp="1"/>
          </p:cNvSpPr>
          <p:nvPr>
            <p:ph type="pic" idx="2"/>
          </p:nvPr>
        </p:nvSpPr>
        <p:spPr>
          <a:xfrm>
            <a:off x="15760700" y="1016000"/>
            <a:ext cx="7439100" cy="5949600"/>
          </a:xfrm>
          <a:prstGeom prst="rect">
            <a:avLst/>
          </a:prstGeom>
          <a:noFill/>
          <a:ln>
            <a:noFill/>
          </a:ln>
        </p:spPr>
      </p:sp>
      <p:sp>
        <p:nvSpPr>
          <p:cNvPr id="78" name="Google Shape;78;p28"/>
          <p:cNvSpPr>
            <a:spLocks noGrp="1"/>
          </p:cNvSpPr>
          <p:nvPr>
            <p:ph type="pic" idx="3"/>
          </p:nvPr>
        </p:nvSpPr>
        <p:spPr>
          <a:xfrm>
            <a:off x="13500100" y="3978275"/>
            <a:ext cx="10439400" cy="12150300"/>
          </a:xfrm>
          <a:prstGeom prst="rect">
            <a:avLst/>
          </a:prstGeom>
          <a:noFill/>
          <a:ln>
            <a:noFill/>
          </a:ln>
        </p:spPr>
      </p:sp>
      <p:sp>
        <p:nvSpPr>
          <p:cNvPr id="79" name="Google Shape;79;p28"/>
          <p:cNvSpPr>
            <a:spLocks noGrp="1"/>
          </p:cNvSpPr>
          <p:nvPr>
            <p:ph type="pic" idx="4"/>
          </p:nvPr>
        </p:nvSpPr>
        <p:spPr>
          <a:xfrm>
            <a:off x="-139700" y="495300"/>
            <a:ext cx="16611600" cy="12458700"/>
          </a:xfrm>
          <a:prstGeom prst="rect">
            <a:avLst/>
          </a:prstGeom>
          <a:noFill/>
          <a:ln>
            <a:noFill/>
          </a:ln>
        </p:spPr>
      </p:sp>
      <p:sp>
        <p:nvSpPr>
          <p:cNvPr id="80" name="Google Shape;80;p28"/>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Photo">
  <p:cSld name="Photo">
    <p:spTree>
      <p:nvGrpSpPr>
        <p:cNvPr id="1" name="Shape 81"/>
        <p:cNvGrpSpPr/>
        <p:nvPr/>
      </p:nvGrpSpPr>
      <p:grpSpPr>
        <a:xfrm>
          <a:off x="0" y="0"/>
          <a:ext cx="0" cy="0"/>
          <a:chOff x="0" y="0"/>
          <a:chExt cx="0" cy="0"/>
        </a:xfrm>
      </p:grpSpPr>
      <p:sp>
        <p:nvSpPr>
          <p:cNvPr id="82" name="Google Shape;82;p29"/>
          <p:cNvSpPr>
            <a:spLocks noGrp="1"/>
          </p:cNvSpPr>
          <p:nvPr>
            <p:ph type="pic" idx="2"/>
          </p:nvPr>
        </p:nvSpPr>
        <p:spPr>
          <a:xfrm>
            <a:off x="-1333500" y="-5524500"/>
            <a:ext cx="27051000" cy="21640800"/>
          </a:xfrm>
          <a:prstGeom prst="rect">
            <a:avLst/>
          </a:prstGeom>
          <a:noFill/>
          <a:ln>
            <a:noFill/>
          </a:ln>
        </p:spPr>
      </p:sp>
      <p:sp>
        <p:nvSpPr>
          <p:cNvPr id="83" name="Google Shape;83;p29"/>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FFFFFF"/>
              </a:buClr>
              <a:buSzPts val="1800"/>
              <a:buFont typeface="Helvetica Neue"/>
              <a:buNone/>
              <a:defRPr sz="18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800"/>
              <a:buFont typeface="Helvetica Neue"/>
              <a:buNone/>
              <a:defRPr sz="18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800"/>
              <a:buFont typeface="Helvetica Neue"/>
              <a:buNone/>
              <a:defRPr sz="18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800"/>
              <a:buFont typeface="Helvetica Neue"/>
              <a:buNone/>
              <a:defRPr sz="18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800"/>
              <a:buFont typeface="Helvetica Neue"/>
              <a:buNone/>
              <a:defRPr sz="18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800"/>
              <a:buFont typeface="Helvetica Neue"/>
              <a:buNone/>
              <a:defRPr sz="18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800"/>
              <a:buFont typeface="Helvetica Neue"/>
              <a:buNone/>
              <a:defRPr sz="18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800"/>
              <a:buFont typeface="Helvetica Neue"/>
              <a:buNone/>
              <a:defRPr sz="18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800"/>
              <a:buFont typeface="Helvetica Neue"/>
              <a:buNone/>
              <a:defRPr sz="18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Blank">
  <p:cSld name="Blank">
    <p:spTree>
      <p:nvGrpSpPr>
        <p:cNvPr id="1" name="Shape 84"/>
        <p:cNvGrpSpPr/>
        <p:nvPr/>
      </p:nvGrpSpPr>
      <p:grpSpPr>
        <a:xfrm>
          <a:off x="0" y="0"/>
          <a:ext cx="0" cy="0"/>
          <a:chOff x="0" y="0"/>
          <a:chExt cx="0" cy="0"/>
        </a:xfrm>
      </p:grpSpPr>
      <p:sp>
        <p:nvSpPr>
          <p:cNvPr id="85" name="Google Shape;85;p30"/>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1206500" y="1079500"/>
            <a:ext cx="21971100" cy="1433100"/>
          </a:xfrm>
          <a:prstGeom prst="rect">
            <a:avLst/>
          </a:prstGeom>
          <a:noFill/>
          <a:ln>
            <a:noFill/>
          </a:ln>
        </p:spPr>
        <p:txBody>
          <a:bodyPr spcFirstLastPara="1" wrap="square" lIns="50800" tIns="50800" rIns="50800" bIns="50800" anchor="t" anchorCtr="0">
            <a:normAutofit/>
          </a:bodyPr>
          <a:lstStyle>
            <a:lvl1pPr marR="0" lvl="0"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1pPr>
            <a:lvl2pPr marR="0" lvl="1"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2pPr>
            <a:lvl3pPr marR="0" lvl="2"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3pPr>
            <a:lvl4pPr marR="0" lvl="3"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4pPr>
            <a:lvl5pPr marR="0" lvl="4"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5pPr>
            <a:lvl6pPr marR="0" lvl="5"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6pPr>
            <a:lvl7pPr marR="0" lvl="6"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7pPr>
            <a:lvl8pPr marR="0" lvl="7"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8pPr>
            <a:lvl9pPr marR="0" lvl="8"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9pPr>
          </a:lstStyle>
          <a:p>
            <a:endParaRPr/>
          </a:p>
        </p:txBody>
      </p:sp>
      <p:sp>
        <p:nvSpPr>
          <p:cNvPr id="7" name="Google Shape;7;p13"/>
          <p:cNvSpPr txBox="1">
            <a:spLocks noGrp="1"/>
          </p:cNvSpPr>
          <p:nvPr>
            <p:ph type="body" idx="1"/>
          </p:nvPr>
        </p:nvSpPr>
        <p:spPr>
          <a:xfrm>
            <a:off x="1206500" y="4248504"/>
            <a:ext cx="21971100" cy="8256000"/>
          </a:xfrm>
          <a:prstGeom prst="rect">
            <a:avLst/>
          </a:prstGeom>
          <a:noFill/>
          <a:ln>
            <a:noFill/>
          </a:ln>
        </p:spPr>
        <p:txBody>
          <a:bodyPr spcFirstLastPara="1" wrap="square" lIns="50800" tIns="50800" rIns="50800" bIns="50800" anchor="t" anchorCtr="0">
            <a:normAutofit/>
          </a:bodyPr>
          <a:lstStyle>
            <a:lvl1pPr marL="457200" marR="0" lvl="0"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1pPr>
            <a:lvl2pPr marL="914400" marR="0" lvl="1"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2pPr>
            <a:lvl3pPr marL="1371600" marR="0" lvl="2"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3pPr>
            <a:lvl4pPr marL="1828800" marR="0" lvl="3"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4pPr>
            <a:lvl5pPr marL="2286000" marR="0" lvl="4"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5pPr>
            <a:lvl6pPr marL="2743200" marR="0" lvl="5"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6pPr>
            <a:lvl7pPr marL="3200400" marR="0" lvl="6"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7pPr>
            <a:lvl8pPr marL="3657600" marR="0" lvl="7"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8pPr>
            <a:lvl9pPr marL="4114800" marR="0" lvl="8" indent="-603503"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9pPr>
          </a:lstStyle>
          <a:p>
            <a:endParaRPr/>
          </a:p>
        </p:txBody>
      </p:sp>
      <p:pic>
        <p:nvPicPr>
          <p:cNvPr id="8" name="Google Shape;8;p13" descr="pasted-movie.heif"/>
          <p:cNvPicPr preferRelativeResize="0"/>
          <p:nvPr/>
        </p:nvPicPr>
        <p:blipFill rotWithShape="1">
          <a:blip r:embed="rId18">
            <a:alphaModFix/>
          </a:blip>
          <a:srcRect t="388" r="85220" b="388"/>
          <a:stretch/>
        </p:blipFill>
        <p:spPr>
          <a:xfrm>
            <a:off x="67789" y="52176"/>
            <a:ext cx="1490826" cy="1801247"/>
          </a:xfrm>
          <a:prstGeom prst="rect">
            <a:avLst/>
          </a:prstGeom>
          <a:noFill/>
          <a:ln>
            <a:noFill/>
          </a:ln>
        </p:spPr>
      </p:pic>
      <p:pic>
        <p:nvPicPr>
          <p:cNvPr id="9" name="Google Shape;9;p13" descr="pasted-movie.heif"/>
          <p:cNvPicPr preferRelativeResize="0"/>
          <p:nvPr/>
        </p:nvPicPr>
        <p:blipFill rotWithShape="1">
          <a:blip r:embed="rId19">
            <a:alphaModFix/>
          </a:blip>
          <a:srcRect l="50059" r="33607"/>
          <a:stretch/>
        </p:blipFill>
        <p:spPr>
          <a:xfrm>
            <a:off x="22617501" y="39476"/>
            <a:ext cx="1658035" cy="1826982"/>
          </a:xfrm>
          <a:prstGeom prst="rect">
            <a:avLst/>
          </a:prstGeom>
          <a:noFill/>
          <a:ln>
            <a:noFill/>
          </a:ln>
        </p:spPr>
      </p:pic>
      <p:sp>
        <p:nvSpPr>
          <p:cNvPr id="10" name="Google Shape;10;p13"/>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 id="214748366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library.imaging.org/ei/articles/32/1/art00004?utm_source=chatgpt.com" TargetMode="External"/><Relationship Id="rId7" Type="http://schemas.openxmlformats.org/officeDocument/2006/relationships/hyperlink" Target="https://doi.org/10.1145/3796701.3815936?utm_source=chatgpt.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doi.org/10.1145/3772375?utm_source=chatgpt.com" TargetMode="External"/><Relationship Id="rId5" Type="http://schemas.openxmlformats.org/officeDocument/2006/relationships/hyperlink" Target="https://doi.org/10.1145/3519935.3519969?utm_source=chatgpt.com" TargetMode="External"/><Relationship Id="rId4" Type="http://schemas.openxmlformats.org/officeDocument/2006/relationships/hyperlink" Target="https://arxiv.org/abs/2003.07302?utm_source=chatgpt.com" TargetMode="Externa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8" Type="http://schemas.openxmlformats.org/officeDocument/2006/relationships/hyperlink" Target="https://doi.org/10.3837/tiis.2026.03.013" TargetMode="External"/><Relationship Id="rId3" Type="http://schemas.openxmlformats.org/officeDocument/2006/relationships/hyperlink" Target="https://library.imaging.org/ei/articles/32/1/art00004?utm_source=chatgpt.com" TargetMode="External"/><Relationship Id="rId7" Type="http://schemas.openxmlformats.org/officeDocument/2006/relationships/hyperlink" Target="https://doi.org/10.1145/3772375" TargetMode="External"/><Relationship Id="rId2" Type="http://schemas.openxmlformats.org/officeDocument/2006/relationships/hyperlink" Target="https://doi.org/10.2352/ISSN.2470-1173.2020.1.VDA-376" TargetMode="External"/><Relationship Id="rId1" Type="http://schemas.openxmlformats.org/officeDocument/2006/relationships/slideLayout" Target="../slideLayouts/slideLayout10.xml"/><Relationship Id="rId6" Type="http://schemas.openxmlformats.org/officeDocument/2006/relationships/hyperlink" Target="https://doi.org/10.1145/3519935.3519969" TargetMode="External"/><Relationship Id="rId5" Type="http://schemas.openxmlformats.org/officeDocument/2006/relationships/hyperlink" Target="https://www.vldb.org/pvldb/vol13/p1147-lu.pdf?utm_source=chatgpt.com" TargetMode="External"/><Relationship Id="rId4" Type="http://schemas.openxmlformats.org/officeDocument/2006/relationships/hyperlink" Target="https://doi.org/10.14778/3389133.3389134" TargetMode="External"/><Relationship Id="rId9" Type="http://schemas.openxmlformats.org/officeDocument/2006/relationships/hyperlink" Target="https://itiis.org/digital-library/106122?utm_source=chatgpt.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p:nvPr/>
        </p:nvSpPr>
        <p:spPr>
          <a:xfrm>
            <a:off x="1333400" y="2216001"/>
            <a:ext cx="21971100" cy="2553000"/>
          </a:xfrm>
          <a:prstGeom prst="rect">
            <a:avLst/>
          </a:prstGeom>
          <a:noFill/>
          <a:ln>
            <a:noFill/>
          </a:ln>
          <a:effectLst>
            <a:outerShdw blurRad="57150" dist="19050" dir="5400000" algn="bl" rotWithShape="0">
              <a:srgbClr val="000000">
                <a:alpha val="49411"/>
              </a:srgbClr>
            </a:outerShdw>
          </a:effectLst>
        </p:spPr>
        <p:txBody>
          <a:bodyPr spcFirstLastPara="1" wrap="square" lIns="50800" tIns="50800" rIns="50800" bIns="50800" anchor="ctr" anchorCtr="0">
            <a:normAutofit/>
          </a:bodyPr>
          <a:lstStyle/>
          <a:p>
            <a:pPr marL="0" marR="0" lvl="0" indent="0" algn="ctr" rtl="0">
              <a:lnSpc>
                <a:spcPct val="80000"/>
              </a:lnSpc>
              <a:spcBef>
                <a:spcPts val="0"/>
              </a:spcBef>
              <a:spcAft>
                <a:spcPts val="0"/>
              </a:spcAft>
              <a:buClr>
                <a:srgbClr val="EB220C"/>
              </a:buClr>
              <a:buSzPts val="6032"/>
              <a:buFont typeface="Helvetica Neue"/>
              <a:buNone/>
            </a:pPr>
            <a:endParaRPr sz="1000" b="0" i="0" u="none" strike="noStrike" cap="none">
              <a:solidFill>
                <a:schemeClr val="dk1"/>
              </a:solidFill>
              <a:latin typeface="Arial"/>
              <a:ea typeface="Arial"/>
              <a:cs typeface="Arial"/>
              <a:sym typeface="Arial"/>
            </a:endParaRPr>
          </a:p>
        </p:txBody>
      </p:sp>
      <p:sp>
        <p:nvSpPr>
          <p:cNvPr id="92" name="Google Shape;92;p1"/>
          <p:cNvSpPr txBox="1"/>
          <p:nvPr/>
        </p:nvSpPr>
        <p:spPr>
          <a:xfrm>
            <a:off x="1205084" y="9539209"/>
            <a:ext cx="9235500" cy="3771900"/>
          </a:xfrm>
          <a:prstGeom prst="rect">
            <a:avLst/>
          </a:prstGeom>
          <a:noFill/>
          <a:ln>
            <a:noFill/>
          </a:ln>
        </p:spPr>
        <p:txBody>
          <a:bodyPr spcFirstLastPara="1" wrap="square" lIns="50800" tIns="50800" rIns="50800" bIns="50800" anchor="t" anchorCtr="0">
            <a:normAutofit/>
          </a:bodyPr>
          <a:lstStyle/>
          <a:p>
            <a:pPr marL="0" marR="0" lvl="0" indent="0" algn="l" rtl="0">
              <a:lnSpc>
                <a:spcPct val="100000"/>
              </a:lnSpc>
              <a:spcBef>
                <a:spcPts val="0"/>
              </a:spcBef>
              <a:spcAft>
                <a:spcPts val="0"/>
              </a:spcAft>
              <a:buClr>
                <a:srgbClr val="000000"/>
              </a:buClr>
              <a:buSzPts val="4500"/>
              <a:buFont typeface="Helvetica Neue"/>
              <a:buNone/>
            </a:pPr>
            <a:endParaRPr sz="4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500"/>
              <a:buFont typeface="Helvetica Neue"/>
              <a:buNone/>
            </a:pPr>
            <a:r>
              <a:rPr lang="en-US" sz="4000" b="0" i="0" u="none" strike="noStrike" cap="none" dirty="0">
                <a:solidFill>
                  <a:schemeClr val="tx1"/>
                </a:solidFill>
                <a:latin typeface="Arial"/>
                <a:ea typeface="Arial"/>
                <a:cs typeface="Arial"/>
                <a:sym typeface="Arial"/>
              </a:rPr>
              <a:t>PRESENTED BY:</a:t>
            </a:r>
          </a:p>
          <a:p>
            <a:pPr lvl="0">
              <a:buSzPts val="4500"/>
            </a:pPr>
            <a:r>
              <a:rPr lang="en-US" sz="3600" dirty="0">
                <a:solidFill>
                  <a:schemeClr val="tx1"/>
                </a:solidFill>
              </a:rPr>
              <a:t>Anushka Sree Raj (192571024)</a:t>
            </a:r>
          </a:p>
          <a:p>
            <a:pPr marL="0" marR="0" lvl="0" indent="0" algn="l" rtl="0">
              <a:lnSpc>
                <a:spcPct val="100000"/>
              </a:lnSpc>
              <a:spcBef>
                <a:spcPts val="0"/>
              </a:spcBef>
              <a:spcAft>
                <a:spcPts val="0"/>
              </a:spcAft>
              <a:buClr>
                <a:srgbClr val="000000"/>
              </a:buClr>
              <a:buSzPts val="4500"/>
              <a:buFont typeface="Helvetica Neue"/>
              <a:buNone/>
            </a:pPr>
            <a:endParaRPr sz="3600" dirty="0"/>
          </a:p>
          <a:p>
            <a:pPr marL="0" marR="0" lvl="0" indent="0" algn="l" rtl="0">
              <a:lnSpc>
                <a:spcPct val="100000"/>
              </a:lnSpc>
              <a:spcBef>
                <a:spcPts val="0"/>
              </a:spcBef>
              <a:spcAft>
                <a:spcPts val="0"/>
              </a:spcAft>
              <a:buClr>
                <a:srgbClr val="000000"/>
              </a:buClr>
              <a:buSzPts val="4500"/>
              <a:buFont typeface="Helvetica Neue"/>
              <a:buNone/>
            </a:pPr>
            <a:endParaRPr sz="4000" b="0" i="0" u="none" strike="noStrike" cap="none" dirty="0">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500"/>
              <a:buFont typeface="Helvetica Neue"/>
              <a:buNone/>
            </a:pPr>
            <a:endParaRPr sz="4000" b="0" i="0" u="none" strike="noStrike" cap="none" dirty="0">
              <a:solidFill>
                <a:srgbClr val="00A2FF"/>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500"/>
              <a:buFont typeface="Helvetica Neue"/>
              <a:buNone/>
            </a:pPr>
            <a:endParaRPr sz="4000" b="0" i="0" u="none" strike="noStrike" cap="none" dirty="0">
              <a:solidFill>
                <a:srgbClr val="000000"/>
              </a:solidFill>
              <a:latin typeface="Arial"/>
              <a:ea typeface="Arial"/>
              <a:cs typeface="Arial"/>
              <a:sym typeface="Arial"/>
            </a:endParaRPr>
          </a:p>
        </p:txBody>
      </p:sp>
      <p:sp>
        <p:nvSpPr>
          <p:cNvPr id="93" name="Google Shape;93;p1"/>
          <p:cNvSpPr txBox="1"/>
          <p:nvPr/>
        </p:nvSpPr>
        <p:spPr>
          <a:xfrm>
            <a:off x="844550" y="4572000"/>
            <a:ext cx="22441000" cy="4572000"/>
          </a:xfrm>
          <a:prstGeom prst="rect">
            <a:avLst/>
          </a:prstGeom>
          <a:noFill/>
          <a:ln>
            <a:noFill/>
          </a:ln>
          <a:effectLst>
            <a:outerShdw blurRad="57150" dist="19050" dir="5400000" algn="bl" rotWithShape="0">
              <a:srgbClr val="000000">
                <a:alpha val="49410"/>
              </a:srgbClr>
            </a:outerShdw>
          </a:effectLst>
        </p:spPr>
        <p:txBody>
          <a:bodyPr spcFirstLastPara="1" wrap="square" lIns="50800" tIns="50800" rIns="50800" bIns="50800" anchor="ctr" anchorCtr="0">
            <a:noAutofit/>
          </a:bodyPr>
          <a:lstStyle/>
          <a:p>
            <a:pPr lvl="0" algn="ctr">
              <a:lnSpc>
                <a:spcPct val="80000"/>
              </a:lnSpc>
            </a:pPr>
            <a:r>
              <a:rPr lang="en-IN" sz="8000" dirty="0"/>
              <a:t>CSA0301-DATA STRUCTURES</a:t>
            </a:r>
          </a:p>
          <a:p>
            <a:pPr lvl="0" algn="ctr">
              <a:lnSpc>
                <a:spcPct val="80000"/>
              </a:lnSpc>
            </a:pPr>
            <a:endParaRPr lang="en-IN" sz="8000" dirty="0"/>
          </a:p>
          <a:p>
            <a:pPr algn="ctr"/>
            <a:r>
              <a:rPr lang="en-IN" sz="5400" dirty="0"/>
              <a:t>EFFICIENT BOOK SEARCH IN A DIGITAL LIBRARY USING APPROPRIATE DATA STRUCTURES</a:t>
            </a:r>
          </a:p>
          <a:p>
            <a:r>
              <a:rPr lang="en-IN" sz="5400" dirty="0">
                <a:effectLst>
                  <a:outerShdw blurRad="38100" dist="38100" dir="2700000" algn="tl">
                    <a:srgbClr val="000000">
                      <a:alpha val="43137"/>
                    </a:srgbClr>
                  </a:outerShdw>
                </a:effectLst>
              </a:rPr>
              <a:t>Case Study: Searching ISBN among 50,000 Book Records</a:t>
            </a:r>
          </a:p>
          <a:p>
            <a:pPr lvl="0" algn="ctr">
              <a:lnSpc>
                <a:spcPct val="80000"/>
              </a:lnSpc>
            </a:pPr>
            <a:endParaRPr lang="en-IN" sz="8000" dirty="0"/>
          </a:p>
        </p:txBody>
      </p:sp>
      <p:pic>
        <p:nvPicPr>
          <p:cNvPr id="3" name="Picture 2" descr="SSE-Computer Science and Engineering">
            <a:extLst>
              <a:ext uri="{FF2B5EF4-FFF2-40B4-BE49-F238E27FC236}">
                <a16:creationId xmlns:a16="http://schemas.microsoft.com/office/drawing/2014/main" id="{354258B3-0145-F816-8604-957A8D51F32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2834" y="404891"/>
            <a:ext cx="12484432" cy="20081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ADFE9B88-4279-D5B7-03FE-E4F65603FA93}"/>
            </a:ext>
          </a:extLst>
        </p:cNvPr>
        <p:cNvGrpSpPr/>
        <p:nvPr/>
      </p:nvGrpSpPr>
      <p:grpSpPr>
        <a:xfrm>
          <a:off x="0" y="0"/>
          <a:ext cx="0" cy="0"/>
          <a:chOff x="0" y="0"/>
          <a:chExt cx="0" cy="0"/>
        </a:xfrm>
      </p:grpSpPr>
      <p:sp>
        <p:nvSpPr>
          <p:cNvPr id="128" name="Google Shape;128;p7">
            <a:extLst>
              <a:ext uri="{FF2B5EF4-FFF2-40B4-BE49-F238E27FC236}">
                <a16:creationId xmlns:a16="http://schemas.microsoft.com/office/drawing/2014/main" id="{ED74CB2F-E3DB-9CD6-5DA3-03CB0F2131BC}"/>
              </a:ext>
            </a:extLst>
          </p:cNvPr>
          <p:cNvSpPr txBox="1"/>
          <p:nvPr/>
        </p:nvSpPr>
        <p:spPr>
          <a:xfrm>
            <a:off x="2997950" y="847691"/>
            <a:ext cx="17219700" cy="1107955"/>
          </a:xfrm>
          <a:prstGeom prst="rect">
            <a:avLst/>
          </a:prstGeom>
          <a:noFill/>
          <a:ln>
            <a:noFill/>
          </a:ln>
        </p:spPr>
        <p:txBody>
          <a:bodyPr spcFirstLastPara="1" wrap="square" lIns="91425" tIns="45700" rIns="91425" bIns="45700" anchor="t" anchorCtr="0">
            <a:spAutoFit/>
          </a:bodyPr>
          <a:lstStyle/>
          <a:p>
            <a:pPr lvl="0" algn="ctr"/>
            <a:r>
              <a:rPr lang="en-IN" sz="6600" b="1" i="0" u="none" strike="noStrike" cap="none" dirty="0">
                <a:solidFill>
                  <a:schemeClr val="tx1"/>
                </a:solidFill>
                <a:latin typeface="Times New Roman" panose="02020603050405020304" pitchFamily="18" charset="0"/>
                <a:cs typeface="Times New Roman" panose="02020603050405020304" pitchFamily="18" charset="0"/>
                <a:sym typeface="Arial"/>
              </a:rPr>
              <a:t>ABSTRACT</a:t>
            </a:r>
          </a:p>
        </p:txBody>
      </p:sp>
      <p:sp>
        <p:nvSpPr>
          <p:cNvPr id="129" name="Google Shape;129;p7">
            <a:extLst>
              <a:ext uri="{FF2B5EF4-FFF2-40B4-BE49-F238E27FC236}">
                <a16:creationId xmlns:a16="http://schemas.microsoft.com/office/drawing/2014/main" id="{9D907429-63A8-677D-F89C-297185F8C3D9}"/>
              </a:ext>
            </a:extLst>
          </p:cNvPr>
          <p:cNvSpPr/>
          <p:nvPr/>
        </p:nvSpPr>
        <p:spPr>
          <a:xfrm>
            <a:off x="6365631" y="1598105"/>
            <a:ext cx="9337431" cy="1384995"/>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a:p>
        </p:txBody>
      </p:sp>
      <p:sp>
        <p:nvSpPr>
          <p:cNvPr id="3" name="TextBox 2">
            <a:extLst>
              <a:ext uri="{FF2B5EF4-FFF2-40B4-BE49-F238E27FC236}">
                <a16:creationId xmlns:a16="http://schemas.microsoft.com/office/drawing/2014/main" id="{A2C61225-A028-277C-0C8C-776C5F5A805C}"/>
              </a:ext>
            </a:extLst>
          </p:cNvPr>
          <p:cNvSpPr txBox="1"/>
          <p:nvPr/>
        </p:nvSpPr>
        <p:spPr>
          <a:xfrm>
            <a:off x="1998133" y="2706060"/>
            <a:ext cx="20743333" cy="5632311"/>
          </a:xfrm>
          <a:prstGeom prst="rect">
            <a:avLst/>
          </a:prstGeom>
          <a:noFill/>
        </p:spPr>
        <p:txBody>
          <a:bodyPr wrap="square" rtlCol="0">
            <a:spAutoFit/>
          </a:bodyPr>
          <a:lstStyle/>
          <a:p>
            <a:pPr algn="just"/>
            <a:r>
              <a:rPr lang="en-US" sz="4500" dirty="0">
                <a:latin typeface="Times New Roman" panose="02020603050405020304" pitchFamily="18" charset="0"/>
                <a:cs typeface="Times New Roman" panose="02020603050405020304" pitchFamily="18" charset="0"/>
              </a:rPr>
              <a:t>A digital library stores thousands of books, making efficient search operations essential for providing quick access to information. One of the most common search operations is locating a book using its unique ISBN (International Standard Book Number). As the number of records grows, choosing an appropriate data structure becomes crucial to maintaining fast search performance. This presentation analyses various data structures, compares their time complexities, and justifies the selection of a Hash Table as the most suitable data structure for searching ISBNs among 50,000 book records due to its average constant-time lookup performance</a:t>
            </a:r>
            <a:endParaRPr lang="en-IN" sz="4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3591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1051200" y="629013"/>
            <a:ext cx="22281600" cy="1433100"/>
          </a:xfrm>
          <a:prstGeom prst="rect">
            <a:avLst/>
          </a:prstGeom>
          <a:noFill/>
          <a:ln>
            <a:noFill/>
          </a:ln>
        </p:spPr>
        <p:txBody>
          <a:bodyPr spcFirstLastPara="1" wrap="square" lIns="50800" tIns="50800" rIns="50800" bIns="50800" anchor="t" anchorCtr="0">
            <a:normAutofit/>
          </a:bodyPr>
          <a:lstStyle/>
          <a:p>
            <a:pPr marL="0" lvl="0" indent="0" algn="ctr" rtl="0">
              <a:lnSpc>
                <a:spcPct val="80000"/>
              </a:lnSpc>
              <a:spcBef>
                <a:spcPts val="0"/>
              </a:spcBef>
              <a:spcAft>
                <a:spcPts val="0"/>
              </a:spcAft>
              <a:buClr>
                <a:srgbClr val="000000"/>
              </a:buClr>
              <a:buSzPts val="8500"/>
              <a:buFont typeface="Helvetica Neue"/>
              <a:buNone/>
            </a:pPr>
            <a:r>
              <a:rPr lang="en-IN" dirty="0">
                <a:solidFill>
                  <a:schemeClr val="dk1"/>
                </a:solidFill>
              </a:rPr>
              <a:t>INTRODUCTION</a:t>
            </a:r>
            <a:endParaRPr dirty="0">
              <a:solidFill>
                <a:schemeClr val="dk1"/>
              </a:solidFill>
            </a:endParaRPr>
          </a:p>
        </p:txBody>
      </p:sp>
      <p:graphicFrame>
        <p:nvGraphicFramePr>
          <p:cNvPr id="2" name="Diagram 1">
            <a:extLst>
              <a:ext uri="{FF2B5EF4-FFF2-40B4-BE49-F238E27FC236}">
                <a16:creationId xmlns:a16="http://schemas.microsoft.com/office/drawing/2014/main" id="{E0F8F84C-1F94-62ED-A81A-63BFF21715C5}"/>
              </a:ext>
            </a:extLst>
          </p:cNvPr>
          <p:cNvGraphicFramePr/>
          <p:nvPr>
            <p:extLst>
              <p:ext uri="{D42A27DB-BD31-4B8C-83A1-F6EECF244321}">
                <p14:modId xmlns:p14="http://schemas.microsoft.com/office/powerpoint/2010/main" val="2729093119"/>
              </p:ext>
            </p:extLst>
          </p:nvPr>
        </p:nvGraphicFramePr>
        <p:xfrm>
          <a:off x="1051200" y="2583623"/>
          <a:ext cx="22910800" cy="54435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D3A53B7E-DE77-403B-66BD-354DDD275EA1}"/>
              </a:ext>
            </a:extLst>
          </p:cNvPr>
          <p:cNvSpPr txBox="1"/>
          <p:nvPr/>
        </p:nvSpPr>
        <p:spPr>
          <a:xfrm>
            <a:off x="4294042" y="8548695"/>
            <a:ext cx="12527280" cy="3108543"/>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ISBN possesses ideal characteristics:</a:t>
            </a:r>
          </a:p>
          <a:p>
            <a:pPr marL="285750"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Every ISBN is unique </a:t>
            </a:r>
          </a:p>
          <a:p>
            <a:pPr marL="285750"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Fixed length </a:t>
            </a:r>
          </a:p>
          <a:p>
            <a:pPr marL="285750"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duplicate keys </a:t>
            </a:r>
          </a:p>
          <a:p>
            <a:pPr marL="285750"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Direct mapping possible </a:t>
            </a:r>
          </a:p>
          <a:p>
            <a:pPr marL="285750"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Excellent lookup efficiency</a:t>
            </a:r>
          </a:p>
          <a:p>
            <a:endParaRPr lang="en-IN" sz="2800" dirty="0">
              <a:latin typeface="Times New Roman" panose="02020603050405020304" pitchFamily="18" charset="0"/>
              <a:cs typeface="Times New Roman" panose="02020603050405020304" pitchFamily="18" charset="0"/>
            </a:endParaRPr>
          </a:p>
        </p:txBody>
      </p:sp>
      <p:pic>
        <p:nvPicPr>
          <p:cNvPr id="5" name="Picture 4" descr="The image shows two books with visible barcodes, one with a green cover and the other black, possibly a textbook on polygamy.&#10;&#10;AI-generated content may be incorrect.">
            <a:extLst>
              <a:ext uri="{FF2B5EF4-FFF2-40B4-BE49-F238E27FC236}">
                <a16:creationId xmlns:a16="http://schemas.microsoft.com/office/drawing/2014/main" id="{9EB4BF9C-5A6E-88FB-8EA5-5EB26B1F4DC4}"/>
              </a:ext>
            </a:extLst>
          </p:cNvPr>
          <p:cNvPicPr>
            <a:picLocks noChangeAspect="1"/>
          </p:cNvPicPr>
          <p:nvPr/>
        </p:nvPicPr>
        <p:blipFill>
          <a:blip r:embed="rId8"/>
          <a:stretch>
            <a:fillRect/>
          </a:stretch>
        </p:blipFill>
        <p:spPr>
          <a:xfrm>
            <a:off x="13826319" y="8202471"/>
            <a:ext cx="8674225" cy="48845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7"/>
          <p:cNvSpPr txBox="1"/>
          <p:nvPr/>
        </p:nvSpPr>
        <p:spPr>
          <a:xfrm>
            <a:off x="3582150" y="490150"/>
            <a:ext cx="17219700" cy="1107955"/>
          </a:xfrm>
          <a:prstGeom prst="rect">
            <a:avLst/>
          </a:prstGeom>
          <a:noFill/>
          <a:ln>
            <a:noFill/>
          </a:ln>
        </p:spPr>
        <p:txBody>
          <a:bodyPr spcFirstLastPara="1" wrap="square" lIns="91425" tIns="45700" rIns="91425" bIns="45700" anchor="t" anchorCtr="0">
            <a:spAutoFit/>
          </a:bodyPr>
          <a:lstStyle/>
          <a:p>
            <a:pPr lvl="0" algn="ctr"/>
            <a:r>
              <a:rPr lang="en-IN" sz="6600" b="1" i="0" u="none" strike="noStrike" cap="none" dirty="0">
                <a:solidFill>
                  <a:schemeClr val="tx1"/>
                </a:solidFill>
                <a:latin typeface="Times New Roman" panose="02020603050405020304" pitchFamily="18" charset="0"/>
                <a:cs typeface="Times New Roman" panose="02020603050405020304" pitchFamily="18" charset="0"/>
                <a:sym typeface="Arial"/>
              </a:rPr>
              <a:t>LITERATURE REVIEW</a:t>
            </a:r>
            <a:r>
              <a:rPr lang="en-IN" sz="6600" b="1" i="0" u="none" strike="noStrike" cap="none" dirty="0">
                <a:solidFill>
                  <a:srgbClr val="FF0000"/>
                </a:solidFill>
                <a:latin typeface="Times New Roman" panose="02020603050405020304" pitchFamily="18" charset="0"/>
                <a:cs typeface="Times New Roman" panose="02020603050405020304" pitchFamily="18" charset="0"/>
                <a:sym typeface="Arial"/>
              </a:rPr>
              <a:t> </a:t>
            </a:r>
          </a:p>
        </p:txBody>
      </p:sp>
      <p:sp>
        <p:nvSpPr>
          <p:cNvPr id="129" name="Google Shape;129;p7"/>
          <p:cNvSpPr/>
          <p:nvPr/>
        </p:nvSpPr>
        <p:spPr>
          <a:xfrm>
            <a:off x="6365631" y="1598105"/>
            <a:ext cx="9337431" cy="1384995"/>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a:p>
        </p:txBody>
      </p:sp>
      <p:graphicFrame>
        <p:nvGraphicFramePr>
          <p:cNvPr id="7" name="Table 6">
            <a:extLst>
              <a:ext uri="{FF2B5EF4-FFF2-40B4-BE49-F238E27FC236}">
                <a16:creationId xmlns:a16="http://schemas.microsoft.com/office/drawing/2014/main" id="{CF57A4BB-541B-C516-C4D0-673ED504E437}"/>
              </a:ext>
            </a:extLst>
          </p:cNvPr>
          <p:cNvGraphicFramePr>
            <a:graphicFrameLocks noGrp="1"/>
          </p:cNvGraphicFramePr>
          <p:nvPr>
            <p:extLst>
              <p:ext uri="{D42A27DB-BD31-4B8C-83A1-F6EECF244321}">
                <p14:modId xmlns:p14="http://schemas.microsoft.com/office/powerpoint/2010/main" val="2212227981"/>
              </p:ext>
            </p:extLst>
          </p:nvPr>
        </p:nvGraphicFramePr>
        <p:xfrm>
          <a:off x="1020235" y="2136987"/>
          <a:ext cx="22804966" cy="9936480"/>
        </p:xfrm>
        <a:graphic>
          <a:graphicData uri="http://schemas.openxmlformats.org/drawingml/2006/table">
            <a:tbl>
              <a:tblPr>
                <a:tableStyleId>{D8A603B1-64F8-4D6B-8910-69835B49B399}</a:tableStyleId>
              </a:tblPr>
              <a:tblGrid>
                <a:gridCol w="3661833">
                  <a:extLst>
                    <a:ext uri="{9D8B030D-6E8A-4147-A177-3AD203B41FA5}">
                      <a16:colId xmlns:a16="http://schemas.microsoft.com/office/drawing/2014/main" val="3790999022"/>
                    </a:ext>
                  </a:extLst>
                </a:gridCol>
                <a:gridCol w="1667933">
                  <a:extLst>
                    <a:ext uri="{9D8B030D-6E8A-4147-A177-3AD203B41FA5}">
                      <a16:colId xmlns:a16="http://schemas.microsoft.com/office/drawing/2014/main" val="3697614734"/>
                    </a:ext>
                  </a:extLst>
                </a:gridCol>
                <a:gridCol w="4267200">
                  <a:extLst>
                    <a:ext uri="{9D8B030D-6E8A-4147-A177-3AD203B41FA5}">
                      <a16:colId xmlns:a16="http://schemas.microsoft.com/office/drawing/2014/main" val="2567121198"/>
                    </a:ext>
                  </a:extLst>
                </a:gridCol>
                <a:gridCol w="3149600">
                  <a:extLst>
                    <a:ext uri="{9D8B030D-6E8A-4147-A177-3AD203B41FA5}">
                      <a16:colId xmlns:a16="http://schemas.microsoft.com/office/drawing/2014/main" val="1381678164"/>
                    </a:ext>
                  </a:extLst>
                </a:gridCol>
                <a:gridCol w="5689600">
                  <a:extLst>
                    <a:ext uri="{9D8B030D-6E8A-4147-A177-3AD203B41FA5}">
                      <a16:colId xmlns:a16="http://schemas.microsoft.com/office/drawing/2014/main" val="769197313"/>
                    </a:ext>
                  </a:extLst>
                </a:gridCol>
                <a:gridCol w="4368800">
                  <a:extLst>
                    <a:ext uri="{9D8B030D-6E8A-4147-A177-3AD203B41FA5}">
                      <a16:colId xmlns:a16="http://schemas.microsoft.com/office/drawing/2014/main" val="616594473"/>
                    </a:ext>
                  </a:extLst>
                </a:gridCol>
              </a:tblGrid>
              <a:tr h="0">
                <a:tc>
                  <a:txBody>
                    <a:bodyPr/>
                    <a:lstStyle/>
                    <a:p>
                      <a:pPr>
                        <a:buNone/>
                      </a:pPr>
                      <a:r>
                        <a:rPr lang="en-IN" sz="2800" b="1" dirty="0">
                          <a:latin typeface="Times New Roman" panose="02020603050405020304" pitchFamily="18" charset="0"/>
                          <a:cs typeface="Times New Roman" panose="02020603050405020304" pitchFamily="18" charset="0"/>
                        </a:rPr>
                        <a:t>Authors</a:t>
                      </a:r>
                      <a:endParaRPr lang="en-IN" sz="28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latin typeface="Times New Roman" panose="02020603050405020304" pitchFamily="18" charset="0"/>
                          <a:cs typeface="Times New Roman" panose="02020603050405020304" pitchFamily="18" charset="0"/>
                        </a:rPr>
                        <a:t>Year</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latin typeface="Times New Roman" panose="02020603050405020304" pitchFamily="18" charset="0"/>
                          <a:cs typeface="Times New Roman" panose="02020603050405020304" pitchFamily="18" charset="0"/>
                        </a:rPr>
                        <a:t>Paper Title</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latin typeface="Times New Roman" panose="02020603050405020304" pitchFamily="18" charset="0"/>
                          <a:cs typeface="Times New Roman" panose="02020603050405020304" pitchFamily="18" charset="0"/>
                        </a:rPr>
                        <a:t>Method / Data Structure</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latin typeface="Times New Roman" panose="02020603050405020304" pitchFamily="18" charset="0"/>
                          <a:cs typeface="Times New Roman" panose="02020603050405020304" pitchFamily="18" charset="0"/>
                        </a:rPr>
                        <a:t>Key Findings</a:t>
                      </a:r>
                      <a:endParaRPr lang="en-IN" sz="2800">
                        <a:latin typeface="Times New Roman" panose="02020603050405020304" pitchFamily="18" charset="0"/>
                        <a:cs typeface="Times New Roman" panose="02020603050405020304" pitchFamily="18" charset="0"/>
                      </a:endParaRPr>
                    </a:p>
                  </a:txBody>
                  <a:tcPr anchor="ctr"/>
                </a:tc>
                <a:tc>
                  <a:txBody>
                    <a:bodyPr/>
                    <a:lstStyle/>
                    <a:p>
                      <a:pPr>
                        <a:buNone/>
                      </a:pPr>
                      <a:r>
                        <a:rPr lang="en-IN" sz="2800" b="1">
                          <a:latin typeface="Times New Roman" panose="02020603050405020304" pitchFamily="18" charset="0"/>
                          <a:cs typeface="Times New Roman" panose="02020603050405020304" pitchFamily="18" charset="0"/>
                        </a:rPr>
                        <a:t>Relevance to Present Work</a:t>
                      </a:r>
                      <a:endParaRPr lang="en-IN" sz="28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25525442"/>
                  </a:ext>
                </a:extLst>
              </a:tr>
              <a:tr h="0">
                <a:tc>
                  <a:txBody>
                    <a:bodyPr/>
                    <a:lstStyle/>
                    <a:p>
                      <a:pPr>
                        <a:buNone/>
                      </a:pPr>
                      <a:r>
                        <a:rPr lang="en-IN" sz="2800" dirty="0">
                          <a:latin typeface="Times New Roman" panose="02020603050405020304" pitchFamily="18" charset="0"/>
                          <a:cs typeface="Times New Roman" panose="02020603050405020304" pitchFamily="18" charset="0"/>
                        </a:rPr>
                        <a:t>Lessley, Li &amp; Childs</a:t>
                      </a:r>
                    </a:p>
                  </a:txBody>
                  <a:tcPr anchor="ctr"/>
                </a:tc>
                <a:tc>
                  <a:txBody>
                    <a:bodyPr/>
                    <a:lstStyle/>
                    <a:p>
                      <a:pPr>
                        <a:buNone/>
                      </a:pPr>
                      <a:r>
                        <a:rPr lang="en-IN" sz="2800">
                          <a:latin typeface="Times New Roman" panose="02020603050405020304" pitchFamily="18" charset="0"/>
                          <a:cs typeface="Times New Roman" panose="02020603050405020304" pitchFamily="18" charset="0"/>
                        </a:rPr>
                        <a:t>2020</a:t>
                      </a:r>
                    </a:p>
                  </a:txBody>
                  <a:tcPr anchor="ctr"/>
                </a:tc>
                <a:tc>
                  <a:txBody>
                    <a:bodyPr/>
                    <a:lstStyle/>
                    <a:p>
                      <a:pPr>
                        <a:buNone/>
                      </a:pPr>
                      <a:r>
                        <a:rPr lang="en-IN" sz="2800">
                          <a:latin typeface="Times New Roman" panose="02020603050405020304" pitchFamily="18" charset="0"/>
                          <a:cs typeface="Times New Roman" panose="02020603050405020304" pitchFamily="18" charset="0"/>
                        </a:rPr>
                        <a:t>HashFight: A Platform-Portable Hash Table for Multi-Core and Many-Core Architectures</a:t>
                      </a:r>
                    </a:p>
                  </a:txBody>
                  <a:tcPr anchor="ctr"/>
                </a:tc>
                <a:tc>
                  <a:txBody>
                    <a:bodyPr/>
                    <a:lstStyle/>
                    <a:p>
                      <a:pPr>
                        <a:buNone/>
                      </a:pPr>
                      <a:r>
                        <a:rPr lang="en-IN" sz="2800">
                          <a:latin typeface="Times New Roman" panose="02020603050405020304" pitchFamily="18" charset="0"/>
                          <a:cs typeface="Times New Roman" panose="02020603050405020304" pitchFamily="18" charset="0"/>
                        </a:rPr>
                        <a:t>Hash Table</a:t>
                      </a:r>
                    </a:p>
                  </a:txBody>
                  <a:tcPr anchor="ctr"/>
                </a:tc>
                <a:tc>
                  <a:txBody>
                    <a:bodyPr/>
                    <a:lstStyle/>
                    <a:p>
                      <a:pPr>
                        <a:buNone/>
                      </a:pPr>
                      <a:r>
                        <a:rPr lang="en-IN" sz="2800">
                          <a:latin typeface="Times New Roman" panose="02020603050405020304" pitchFamily="18" charset="0"/>
                          <a:cs typeface="Times New Roman" panose="02020603050405020304" pitchFamily="18" charset="0"/>
                        </a:rPr>
                        <a:t>Proposed a high-performance hash table with competitive insertion and lookup performance across CPU and GPU platforms. (</a:t>
                      </a:r>
                      <a:r>
                        <a:rPr lang="en-IN" sz="2800">
                          <a:latin typeface="Times New Roman" panose="02020603050405020304" pitchFamily="18" charset="0"/>
                          <a:cs typeface="Times New Roman" panose="02020603050405020304" pitchFamily="18" charset="0"/>
                          <a:hlinkClick r:id="rId3" tooltip="IS&amp;T | Library"/>
                        </a:rPr>
                        <a:t>library.imaging.org</a:t>
                      </a:r>
                      <a:r>
                        <a:rPr lang="en-IN" sz="2800">
                          <a:latin typeface="Times New Roman" panose="02020603050405020304" pitchFamily="18" charset="0"/>
                          <a:cs typeface="Times New Roman" panose="02020603050405020304" pitchFamily="18" charset="0"/>
                        </a:rPr>
                        <a:t>)</a:t>
                      </a:r>
                    </a:p>
                  </a:txBody>
                  <a:tcPr anchor="ctr"/>
                </a:tc>
                <a:tc>
                  <a:txBody>
                    <a:bodyPr/>
                    <a:lstStyle/>
                    <a:p>
                      <a:pPr>
                        <a:buNone/>
                      </a:pPr>
                      <a:r>
                        <a:rPr lang="en-IN" sz="2800">
                          <a:latin typeface="Times New Roman" panose="02020603050405020304" pitchFamily="18" charset="0"/>
                          <a:cs typeface="Times New Roman" panose="02020603050405020304" pitchFamily="18" charset="0"/>
                        </a:rPr>
                        <a:t>Demonstrates the efficiency of hash tables for fast search operations.</a:t>
                      </a:r>
                    </a:p>
                  </a:txBody>
                  <a:tcPr anchor="ctr"/>
                </a:tc>
                <a:extLst>
                  <a:ext uri="{0D108BD9-81ED-4DB2-BD59-A6C34878D82A}">
                    <a16:rowId xmlns:a16="http://schemas.microsoft.com/office/drawing/2014/main" val="641038654"/>
                  </a:ext>
                </a:extLst>
              </a:tr>
              <a:tr h="0">
                <a:tc>
                  <a:txBody>
                    <a:bodyPr/>
                    <a:lstStyle/>
                    <a:p>
                      <a:pPr>
                        <a:buNone/>
                      </a:pPr>
                      <a:r>
                        <a:rPr lang="en-IN" sz="2800" dirty="0">
                          <a:latin typeface="Times New Roman" panose="02020603050405020304" pitchFamily="18" charset="0"/>
                          <a:cs typeface="Times New Roman" panose="02020603050405020304" pitchFamily="18" charset="0"/>
                        </a:rPr>
                        <a:t>Lu, Hao, Wang &amp; Lo</a:t>
                      </a:r>
                    </a:p>
                  </a:txBody>
                  <a:tcPr anchor="ctr"/>
                </a:tc>
                <a:tc>
                  <a:txBody>
                    <a:bodyPr/>
                    <a:lstStyle/>
                    <a:p>
                      <a:pPr>
                        <a:buNone/>
                      </a:pPr>
                      <a:r>
                        <a:rPr lang="en-IN" sz="2800">
                          <a:latin typeface="Times New Roman" panose="02020603050405020304" pitchFamily="18" charset="0"/>
                          <a:cs typeface="Times New Roman" panose="02020603050405020304" pitchFamily="18" charset="0"/>
                        </a:rPr>
                        <a:t>2020</a:t>
                      </a:r>
                    </a:p>
                  </a:txBody>
                  <a:tcPr anchor="ctr"/>
                </a:tc>
                <a:tc>
                  <a:txBody>
                    <a:bodyPr/>
                    <a:lstStyle/>
                    <a:p>
                      <a:pPr>
                        <a:buNone/>
                      </a:pPr>
                      <a:r>
                        <a:rPr lang="en-IN" sz="2800">
                          <a:latin typeface="Times New Roman" panose="02020603050405020304" pitchFamily="18" charset="0"/>
                          <a:cs typeface="Times New Roman" panose="02020603050405020304" pitchFamily="18" charset="0"/>
                        </a:rPr>
                        <a:t>Dash: Scalable Hashing on Persistent Memory</a:t>
                      </a:r>
                    </a:p>
                  </a:txBody>
                  <a:tcPr anchor="ctr"/>
                </a:tc>
                <a:tc>
                  <a:txBody>
                    <a:bodyPr/>
                    <a:lstStyle/>
                    <a:p>
                      <a:pPr>
                        <a:buNone/>
                      </a:pPr>
                      <a:r>
                        <a:rPr lang="en-IN" sz="2800">
                          <a:latin typeface="Times New Roman" panose="02020603050405020304" pitchFamily="18" charset="0"/>
                          <a:cs typeface="Times New Roman" panose="02020603050405020304" pitchFamily="18" charset="0"/>
                        </a:rPr>
                        <a:t>Dynamic Hash Table</a:t>
                      </a:r>
                    </a:p>
                  </a:txBody>
                  <a:tcPr anchor="ctr"/>
                </a:tc>
                <a:tc>
                  <a:txBody>
                    <a:bodyPr/>
                    <a:lstStyle/>
                    <a:p>
                      <a:pPr>
                        <a:buNone/>
                      </a:pPr>
                      <a:r>
                        <a:rPr lang="en-IN" sz="2800">
                          <a:latin typeface="Times New Roman" panose="02020603050405020304" pitchFamily="18" charset="0"/>
                          <a:cs typeface="Times New Roman" panose="02020603050405020304" pitchFamily="18" charset="0"/>
                        </a:rPr>
                        <a:t>Achieved up to 3.9× higher performance with over 90% load factor while maintaining constant-time average lookup. (</a:t>
                      </a:r>
                      <a:r>
                        <a:rPr lang="en-IN" sz="2800">
                          <a:latin typeface="Times New Roman" panose="02020603050405020304" pitchFamily="18" charset="0"/>
                          <a:cs typeface="Times New Roman" panose="02020603050405020304" pitchFamily="18" charset="0"/>
                          <a:hlinkClick r:id="rId4" tooltip="Dash: Scalable Hashing on Persistent Memory"/>
                        </a:rPr>
                        <a:t>arXiv</a:t>
                      </a:r>
                      <a:r>
                        <a:rPr lang="en-IN" sz="2800">
                          <a:latin typeface="Times New Roman" panose="02020603050405020304" pitchFamily="18" charset="0"/>
                          <a:cs typeface="Times New Roman" panose="02020603050405020304" pitchFamily="18" charset="0"/>
                        </a:rPr>
                        <a:t>)</a:t>
                      </a:r>
                    </a:p>
                  </a:txBody>
                  <a:tcPr anchor="ctr"/>
                </a:tc>
                <a:tc>
                  <a:txBody>
                    <a:bodyPr/>
                    <a:lstStyle/>
                    <a:p>
                      <a:pPr>
                        <a:buNone/>
                      </a:pPr>
                      <a:r>
                        <a:rPr lang="en-IN" sz="2800">
                          <a:latin typeface="Times New Roman" panose="02020603050405020304" pitchFamily="18" charset="0"/>
                          <a:cs typeface="Times New Roman" panose="02020603050405020304" pitchFamily="18" charset="0"/>
                        </a:rPr>
                        <a:t>Shows that hash tables remain efficient for large-scale datasets.</a:t>
                      </a:r>
                    </a:p>
                  </a:txBody>
                  <a:tcPr anchor="ctr"/>
                </a:tc>
                <a:extLst>
                  <a:ext uri="{0D108BD9-81ED-4DB2-BD59-A6C34878D82A}">
                    <a16:rowId xmlns:a16="http://schemas.microsoft.com/office/drawing/2014/main" val="3449401024"/>
                  </a:ext>
                </a:extLst>
              </a:tr>
              <a:tr h="0">
                <a:tc>
                  <a:txBody>
                    <a:bodyPr/>
                    <a:lstStyle/>
                    <a:p>
                      <a:pPr>
                        <a:buNone/>
                      </a:pPr>
                      <a:r>
                        <a:rPr lang="en-IN" sz="2800" dirty="0">
                          <a:latin typeface="Times New Roman" panose="02020603050405020304" pitchFamily="18" charset="0"/>
                          <a:cs typeface="Times New Roman" panose="02020603050405020304" pitchFamily="18" charset="0"/>
                        </a:rPr>
                        <a:t>Bender et al.</a:t>
                      </a:r>
                    </a:p>
                  </a:txBody>
                  <a:tcPr anchor="ctr"/>
                </a:tc>
                <a:tc>
                  <a:txBody>
                    <a:bodyPr/>
                    <a:lstStyle/>
                    <a:p>
                      <a:pPr>
                        <a:buNone/>
                      </a:pPr>
                      <a:r>
                        <a:rPr lang="en-IN" sz="2800">
                          <a:latin typeface="Times New Roman" panose="02020603050405020304" pitchFamily="18" charset="0"/>
                          <a:cs typeface="Times New Roman" panose="02020603050405020304" pitchFamily="18" charset="0"/>
                        </a:rPr>
                        <a:t>2022</a:t>
                      </a:r>
                    </a:p>
                  </a:txBody>
                  <a:tcPr anchor="ctr"/>
                </a:tc>
                <a:tc>
                  <a:txBody>
                    <a:bodyPr/>
                    <a:lstStyle/>
                    <a:p>
                      <a:pPr>
                        <a:buNone/>
                      </a:pPr>
                      <a:r>
                        <a:rPr lang="en-IN" sz="2800">
                          <a:latin typeface="Times New Roman" panose="02020603050405020304" pitchFamily="18" charset="0"/>
                          <a:cs typeface="Times New Roman" panose="02020603050405020304" pitchFamily="18" charset="0"/>
                        </a:rPr>
                        <a:t>On the Optimal Time/Space Tradeoff for Hash Tables</a:t>
                      </a:r>
                    </a:p>
                  </a:txBody>
                  <a:tcPr anchor="ctr"/>
                </a:tc>
                <a:tc>
                  <a:txBody>
                    <a:bodyPr/>
                    <a:lstStyle/>
                    <a:p>
                      <a:pPr>
                        <a:buNone/>
                      </a:pPr>
                      <a:r>
                        <a:rPr lang="en-IN" sz="2800">
                          <a:latin typeface="Times New Roman" panose="02020603050405020304" pitchFamily="18" charset="0"/>
                          <a:cs typeface="Times New Roman" panose="02020603050405020304" pitchFamily="18" charset="0"/>
                        </a:rPr>
                        <a:t>Optimized Hash Table</a:t>
                      </a:r>
                    </a:p>
                  </a:txBody>
                  <a:tcPr anchor="ctr"/>
                </a:tc>
                <a:tc>
                  <a:txBody>
                    <a:bodyPr/>
                    <a:lstStyle/>
                    <a:p>
                      <a:pPr>
                        <a:buNone/>
                      </a:pPr>
                      <a:r>
                        <a:rPr lang="en-IN" sz="2800">
                          <a:latin typeface="Times New Roman" panose="02020603050405020304" pitchFamily="18" charset="0"/>
                          <a:cs typeface="Times New Roman" panose="02020603050405020304" pitchFamily="18" charset="0"/>
                        </a:rPr>
                        <a:t>Investigated theoretical limits of hash tables and confirmed their excellent balance between memory usage and lookup speed. (</a:t>
                      </a:r>
                      <a:r>
                        <a:rPr lang="en-IN" sz="2800">
                          <a:latin typeface="Times New Roman" panose="02020603050405020304" pitchFamily="18" charset="0"/>
                          <a:cs typeface="Times New Roman" panose="02020603050405020304" pitchFamily="18" charset="0"/>
                          <a:hlinkClick r:id="rId5" tooltip="On the optimal time/space tradeoff for hash tables | Proceedings of the 54th Annual ACM SIGACT Symposium on Theory of Computing"/>
                        </a:rPr>
                        <a:t>DOI</a:t>
                      </a:r>
                      <a:r>
                        <a:rPr lang="en-IN" sz="2800">
                          <a:latin typeface="Times New Roman" panose="02020603050405020304" pitchFamily="18" charset="0"/>
                          <a:cs typeface="Times New Roman" panose="02020603050405020304" pitchFamily="18" charset="0"/>
                        </a:rPr>
                        <a:t>)</a:t>
                      </a:r>
                    </a:p>
                  </a:txBody>
                  <a:tcPr anchor="ctr"/>
                </a:tc>
                <a:tc>
                  <a:txBody>
                    <a:bodyPr/>
                    <a:lstStyle/>
                    <a:p>
                      <a:pPr>
                        <a:buNone/>
                      </a:pPr>
                      <a:r>
                        <a:rPr lang="en-IN" sz="2800">
                          <a:latin typeface="Times New Roman" panose="02020603050405020304" pitchFamily="18" charset="0"/>
                          <a:cs typeface="Times New Roman" panose="02020603050405020304" pitchFamily="18" charset="0"/>
                        </a:rPr>
                        <a:t>Supports the suitability of hash tables for efficient information retrieval.</a:t>
                      </a:r>
                    </a:p>
                  </a:txBody>
                  <a:tcPr anchor="ctr"/>
                </a:tc>
                <a:extLst>
                  <a:ext uri="{0D108BD9-81ED-4DB2-BD59-A6C34878D82A}">
                    <a16:rowId xmlns:a16="http://schemas.microsoft.com/office/drawing/2014/main" val="4004909391"/>
                  </a:ext>
                </a:extLst>
              </a:tr>
              <a:tr h="0">
                <a:tc>
                  <a:txBody>
                    <a:bodyPr/>
                    <a:lstStyle/>
                    <a:p>
                      <a:pPr>
                        <a:buNone/>
                      </a:pPr>
                      <a:r>
                        <a:rPr lang="en-IN" sz="2800" dirty="0">
                          <a:latin typeface="Times New Roman" panose="02020603050405020304" pitchFamily="18" charset="0"/>
                          <a:cs typeface="Times New Roman" panose="02020603050405020304" pitchFamily="18" charset="0"/>
                        </a:rPr>
                        <a:t>Underwood</a:t>
                      </a:r>
                    </a:p>
                  </a:txBody>
                  <a:tcPr anchor="ctr"/>
                </a:tc>
                <a:tc>
                  <a:txBody>
                    <a:bodyPr/>
                    <a:lstStyle/>
                    <a:p>
                      <a:pPr>
                        <a:buNone/>
                      </a:pPr>
                      <a:r>
                        <a:rPr lang="en-IN" sz="2800">
                          <a:latin typeface="Times New Roman" panose="02020603050405020304" pitchFamily="18" charset="0"/>
                          <a:cs typeface="Times New Roman" panose="02020603050405020304" pitchFamily="18" charset="0"/>
                        </a:rPr>
                        <a:t>2025</a:t>
                      </a:r>
                    </a:p>
                  </a:txBody>
                  <a:tcPr anchor="ctr"/>
                </a:tc>
                <a:tc>
                  <a:txBody>
                    <a:bodyPr/>
                    <a:lstStyle/>
                    <a:p>
                      <a:pPr>
                        <a:buNone/>
                      </a:pPr>
                      <a:r>
                        <a:rPr lang="en-IN" sz="2800">
                          <a:latin typeface="Times New Roman" panose="02020603050405020304" pitchFamily="18" charset="0"/>
                          <a:cs typeface="Times New Roman" panose="02020603050405020304" pitchFamily="18" charset="0"/>
                        </a:rPr>
                        <a:t>Speeding Up Hash Tables</a:t>
                      </a:r>
                    </a:p>
                  </a:txBody>
                  <a:tcPr anchor="ctr"/>
                </a:tc>
                <a:tc>
                  <a:txBody>
                    <a:bodyPr/>
                    <a:lstStyle/>
                    <a:p>
                      <a:pPr>
                        <a:buNone/>
                      </a:pPr>
                      <a:r>
                        <a:rPr lang="en-IN" sz="2800">
                          <a:latin typeface="Times New Roman" panose="02020603050405020304" pitchFamily="18" charset="0"/>
                          <a:cs typeface="Times New Roman" panose="02020603050405020304" pitchFamily="18" charset="0"/>
                        </a:rPr>
                        <a:t>Advanced Hashing Techniques</a:t>
                      </a:r>
                    </a:p>
                  </a:txBody>
                  <a:tcPr anchor="ctr"/>
                </a:tc>
                <a:tc>
                  <a:txBody>
                    <a:bodyPr/>
                    <a:lstStyle/>
                    <a:p>
                      <a:pPr>
                        <a:buNone/>
                      </a:pPr>
                      <a:r>
                        <a:rPr lang="en-IN" sz="2800">
                          <a:latin typeface="Times New Roman" panose="02020603050405020304" pitchFamily="18" charset="0"/>
                          <a:cs typeface="Times New Roman" panose="02020603050405020304" pitchFamily="18" charset="0"/>
                        </a:rPr>
                        <a:t>Reviews modern optimizations that improve lookup performance while balancing memory efficiency. (</a:t>
                      </a:r>
                      <a:r>
                        <a:rPr lang="en-IN" sz="2800">
                          <a:latin typeface="Times New Roman" panose="02020603050405020304" pitchFamily="18" charset="0"/>
                          <a:cs typeface="Times New Roman" panose="02020603050405020304" pitchFamily="18" charset="0"/>
                          <a:hlinkClick r:id="rId6" tooltip="Speeding Up Hash Tables | Communications of the ACM"/>
                        </a:rPr>
                        <a:t>DOI</a:t>
                      </a:r>
                      <a:r>
                        <a:rPr lang="en-IN" sz="2800">
                          <a:latin typeface="Times New Roman" panose="02020603050405020304" pitchFamily="18" charset="0"/>
                          <a:cs typeface="Times New Roman" panose="02020603050405020304" pitchFamily="18" charset="0"/>
                        </a:rPr>
                        <a:t>)</a:t>
                      </a:r>
                    </a:p>
                  </a:txBody>
                  <a:tcPr anchor="ctr"/>
                </a:tc>
                <a:tc>
                  <a:txBody>
                    <a:bodyPr/>
                    <a:lstStyle/>
                    <a:p>
                      <a:pPr>
                        <a:buNone/>
                      </a:pPr>
                      <a:r>
                        <a:rPr lang="en-IN" sz="2800">
                          <a:latin typeface="Times New Roman" panose="02020603050405020304" pitchFamily="18" charset="0"/>
                          <a:cs typeface="Times New Roman" panose="02020603050405020304" pitchFamily="18" charset="0"/>
                        </a:rPr>
                        <a:t>Highlights continued improvements in hash table performance for search-intensive systems.</a:t>
                      </a:r>
                    </a:p>
                  </a:txBody>
                  <a:tcPr anchor="ctr"/>
                </a:tc>
                <a:extLst>
                  <a:ext uri="{0D108BD9-81ED-4DB2-BD59-A6C34878D82A}">
                    <a16:rowId xmlns:a16="http://schemas.microsoft.com/office/drawing/2014/main" val="51572862"/>
                  </a:ext>
                </a:extLst>
              </a:tr>
              <a:tr h="0">
                <a:tc>
                  <a:txBody>
                    <a:bodyPr/>
                    <a:lstStyle/>
                    <a:p>
                      <a:pPr>
                        <a:buNone/>
                      </a:pPr>
                      <a:r>
                        <a:rPr lang="en-IN" sz="2800" dirty="0">
                          <a:latin typeface="Times New Roman" panose="02020603050405020304" pitchFamily="18" charset="0"/>
                          <a:cs typeface="Times New Roman" panose="02020603050405020304" pitchFamily="18" charset="0"/>
                        </a:rPr>
                        <a:t>Attiya, Oshman &amp; Schiller</a:t>
                      </a:r>
                    </a:p>
                  </a:txBody>
                  <a:tcPr anchor="ctr"/>
                </a:tc>
                <a:tc>
                  <a:txBody>
                    <a:bodyPr/>
                    <a:lstStyle/>
                    <a:p>
                      <a:pPr>
                        <a:buNone/>
                      </a:pPr>
                      <a:r>
                        <a:rPr lang="en-IN" sz="2800" dirty="0">
                          <a:latin typeface="Times New Roman" panose="02020603050405020304" pitchFamily="18" charset="0"/>
                          <a:cs typeface="Times New Roman" panose="02020603050405020304" pitchFamily="18" charset="0"/>
                        </a:rPr>
                        <a:t>2026</a:t>
                      </a:r>
                    </a:p>
                  </a:txBody>
                  <a:tcPr anchor="ctr"/>
                </a:tc>
                <a:tc>
                  <a:txBody>
                    <a:bodyPr/>
                    <a:lstStyle/>
                    <a:p>
                      <a:pPr>
                        <a:buNone/>
                      </a:pPr>
                      <a:r>
                        <a:rPr lang="en-IN" sz="2800" dirty="0">
                          <a:latin typeface="Times New Roman" panose="02020603050405020304" pitchFamily="18" charset="0"/>
                          <a:cs typeface="Times New Roman" panose="02020603050405020304" pitchFamily="18" charset="0"/>
                        </a:rPr>
                        <a:t>A Space-Efficient Lock-Free Linear-Probing Hash Table</a:t>
                      </a:r>
                    </a:p>
                  </a:txBody>
                  <a:tcPr anchor="ctr"/>
                </a:tc>
                <a:tc>
                  <a:txBody>
                    <a:bodyPr/>
                    <a:lstStyle/>
                    <a:p>
                      <a:pPr>
                        <a:buNone/>
                      </a:pPr>
                      <a:r>
                        <a:rPr lang="en-IN" sz="2800" dirty="0">
                          <a:latin typeface="Times New Roman" panose="02020603050405020304" pitchFamily="18" charset="0"/>
                          <a:cs typeface="Times New Roman" panose="02020603050405020304" pitchFamily="18" charset="0"/>
                        </a:rPr>
                        <a:t>Lock-Free Hash Table</a:t>
                      </a:r>
                    </a:p>
                  </a:txBody>
                  <a:tcPr anchor="ctr"/>
                </a:tc>
                <a:tc>
                  <a:txBody>
                    <a:bodyPr/>
                    <a:lstStyle/>
                    <a:p>
                      <a:pPr>
                        <a:buNone/>
                      </a:pPr>
                      <a:r>
                        <a:rPr lang="en-IN" sz="2800" dirty="0">
                          <a:latin typeface="Times New Roman" panose="02020603050405020304" pitchFamily="18" charset="0"/>
                          <a:cs typeface="Times New Roman" panose="02020603050405020304" pitchFamily="18" charset="0"/>
                        </a:rPr>
                        <a:t>Introduced a space-efficient concurrent hash table that maintains fast lookups with reduced memory overhead. (</a:t>
                      </a:r>
                      <a:r>
                        <a:rPr lang="en-IN" sz="2800" dirty="0">
                          <a:latin typeface="Times New Roman" panose="02020603050405020304" pitchFamily="18" charset="0"/>
                          <a:cs typeface="Times New Roman" panose="02020603050405020304" pitchFamily="18" charset="0"/>
                          <a:hlinkClick r:id="rId7" tooltip="Brief Announcement: A Space-Efficient Lock-Free Linear-Probing Hash Table | Proceedings of the ACM Symposium on Principles of Distributed Computing"/>
                        </a:rPr>
                        <a:t>DOI</a:t>
                      </a:r>
                      <a:r>
                        <a:rPr lang="en-IN" sz="2800" dirty="0">
                          <a:latin typeface="Times New Roman" panose="02020603050405020304" pitchFamily="18" charset="0"/>
                          <a:cs typeface="Times New Roman" panose="02020603050405020304" pitchFamily="18" charset="0"/>
                        </a:rPr>
                        <a:t>)</a:t>
                      </a:r>
                    </a:p>
                  </a:txBody>
                  <a:tcPr anchor="ctr"/>
                </a:tc>
                <a:tc>
                  <a:txBody>
                    <a:bodyPr/>
                    <a:lstStyle/>
                    <a:p>
                      <a:pPr>
                        <a:buNone/>
                      </a:pPr>
                      <a:r>
                        <a:rPr lang="en-IN" sz="2800" dirty="0">
                          <a:latin typeface="Times New Roman" panose="02020603050405020304" pitchFamily="18" charset="0"/>
                          <a:cs typeface="Times New Roman" panose="02020603050405020304" pitchFamily="18" charset="0"/>
                        </a:rPr>
                        <a:t>Demonstrates that modern hash tables are scalable and suitable for large databases such as digital libraries.</a:t>
                      </a:r>
                    </a:p>
                  </a:txBody>
                  <a:tcPr anchor="ctr"/>
                </a:tc>
                <a:extLst>
                  <a:ext uri="{0D108BD9-81ED-4DB2-BD59-A6C34878D82A}">
                    <a16:rowId xmlns:a16="http://schemas.microsoft.com/office/drawing/2014/main" val="359874927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CA4412A9-FA4D-8497-E22C-C399ECA4047F}"/>
            </a:ext>
          </a:extLst>
        </p:cNvPr>
        <p:cNvGrpSpPr/>
        <p:nvPr/>
      </p:nvGrpSpPr>
      <p:grpSpPr>
        <a:xfrm>
          <a:off x="0" y="0"/>
          <a:ext cx="0" cy="0"/>
          <a:chOff x="0" y="0"/>
          <a:chExt cx="0" cy="0"/>
        </a:xfrm>
      </p:grpSpPr>
      <p:sp>
        <p:nvSpPr>
          <p:cNvPr id="128" name="Google Shape;128;p7">
            <a:extLst>
              <a:ext uri="{FF2B5EF4-FFF2-40B4-BE49-F238E27FC236}">
                <a16:creationId xmlns:a16="http://schemas.microsoft.com/office/drawing/2014/main" id="{F42907EC-7A11-0A97-181E-5EF2066C36AA}"/>
              </a:ext>
            </a:extLst>
          </p:cNvPr>
          <p:cNvSpPr txBox="1"/>
          <p:nvPr/>
        </p:nvSpPr>
        <p:spPr>
          <a:xfrm>
            <a:off x="2997950" y="847691"/>
            <a:ext cx="17219700" cy="1107955"/>
          </a:xfrm>
          <a:prstGeom prst="rect">
            <a:avLst/>
          </a:prstGeom>
          <a:noFill/>
          <a:ln>
            <a:noFill/>
          </a:ln>
        </p:spPr>
        <p:txBody>
          <a:bodyPr spcFirstLastPara="1" wrap="square" lIns="91425" tIns="45700" rIns="91425" bIns="45700" anchor="t" anchorCtr="0">
            <a:spAutoFit/>
          </a:bodyPr>
          <a:lstStyle/>
          <a:p>
            <a:pPr lvl="0" algn="ctr"/>
            <a:r>
              <a:rPr lang="en-IN" sz="6600" b="1" i="0" u="none" strike="noStrike" cap="none" dirty="0">
                <a:solidFill>
                  <a:schemeClr val="tx1"/>
                </a:solidFill>
                <a:latin typeface="Times New Roman" panose="02020603050405020304" pitchFamily="18" charset="0"/>
                <a:cs typeface="Times New Roman" panose="02020603050405020304" pitchFamily="18" charset="0"/>
                <a:sym typeface="Arial"/>
              </a:rPr>
              <a:t>PROBLEM STATEMENT</a:t>
            </a:r>
          </a:p>
        </p:txBody>
      </p:sp>
      <p:sp>
        <p:nvSpPr>
          <p:cNvPr id="129" name="Google Shape;129;p7">
            <a:extLst>
              <a:ext uri="{FF2B5EF4-FFF2-40B4-BE49-F238E27FC236}">
                <a16:creationId xmlns:a16="http://schemas.microsoft.com/office/drawing/2014/main" id="{155ADD16-5E4C-F3EB-35F8-D0363C945064}"/>
              </a:ext>
            </a:extLst>
          </p:cNvPr>
          <p:cNvSpPr/>
          <p:nvPr/>
        </p:nvSpPr>
        <p:spPr>
          <a:xfrm>
            <a:off x="6365631" y="1598105"/>
            <a:ext cx="9337431" cy="1384995"/>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a:p>
        </p:txBody>
      </p:sp>
      <p:graphicFrame>
        <p:nvGraphicFramePr>
          <p:cNvPr id="2" name="Diagram 1">
            <a:extLst>
              <a:ext uri="{FF2B5EF4-FFF2-40B4-BE49-F238E27FC236}">
                <a16:creationId xmlns:a16="http://schemas.microsoft.com/office/drawing/2014/main" id="{37381A84-04CD-8A61-F1ED-BDF7E66FDCCC}"/>
              </a:ext>
            </a:extLst>
          </p:cNvPr>
          <p:cNvGraphicFramePr/>
          <p:nvPr>
            <p:extLst>
              <p:ext uri="{D42A27DB-BD31-4B8C-83A1-F6EECF244321}">
                <p14:modId xmlns:p14="http://schemas.microsoft.com/office/powerpoint/2010/main" val="199613385"/>
              </p:ext>
            </p:extLst>
          </p:nvPr>
        </p:nvGraphicFramePr>
        <p:xfrm>
          <a:off x="3039532" y="2706060"/>
          <a:ext cx="18304935" cy="89577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2893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9446B246-67BB-FA24-D8FE-39FE39ACD444}"/>
            </a:ext>
          </a:extLst>
        </p:cNvPr>
        <p:cNvGrpSpPr/>
        <p:nvPr/>
      </p:nvGrpSpPr>
      <p:grpSpPr>
        <a:xfrm>
          <a:off x="0" y="0"/>
          <a:ext cx="0" cy="0"/>
          <a:chOff x="0" y="0"/>
          <a:chExt cx="0" cy="0"/>
        </a:xfrm>
      </p:grpSpPr>
      <p:sp>
        <p:nvSpPr>
          <p:cNvPr id="128" name="Google Shape;128;p7">
            <a:extLst>
              <a:ext uri="{FF2B5EF4-FFF2-40B4-BE49-F238E27FC236}">
                <a16:creationId xmlns:a16="http://schemas.microsoft.com/office/drawing/2014/main" id="{3176B346-03E7-1C6D-0CE7-CD3DAB6C5663}"/>
              </a:ext>
            </a:extLst>
          </p:cNvPr>
          <p:cNvSpPr txBox="1"/>
          <p:nvPr/>
        </p:nvSpPr>
        <p:spPr>
          <a:xfrm>
            <a:off x="3286565" y="836398"/>
            <a:ext cx="17219700" cy="1107955"/>
          </a:xfrm>
          <a:prstGeom prst="rect">
            <a:avLst/>
          </a:prstGeom>
          <a:noFill/>
          <a:ln>
            <a:noFill/>
          </a:ln>
        </p:spPr>
        <p:txBody>
          <a:bodyPr spcFirstLastPara="1" wrap="square" lIns="91425" tIns="45700" rIns="91425" bIns="45700" anchor="t" anchorCtr="0">
            <a:spAutoFit/>
          </a:bodyPr>
          <a:lstStyle/>
          <a:p>
            <a:pPr lvl="0" algn="ctr"/>
            <a:r>
              <a:rPr lang="en-US" sz="6600" b="1" dirty="0">
                <a:solidFill>
                  <a:schemeClr val="tx1"/>
                </a:solidFill>
                <a:latin typeface="Times New Roman" panose="02020603050405020304" pitchFamily="18" charset="0"/>
                <a:cs typeface="Times New Roman" panose="02020603050405020304" pitchFamily="18" charset="0"/>
              </a:rPr>
              <a:t>T</a:t>
            </a:r>
            <a:r>
              <a:rPr lang="en-IN" sz="6600" b="1" dirty="0">
                <a:solidFill>
                  <a:schemeClr val="tx1"/>
                </a:solidFill>
                <a:latin typeface="Times New Roman" panose="02020603050405020304" pitchFamily="18" charset="0"/>
                <a:cs typeface="Times New Roman" panose="02020603050405020304" pitchFamily="18" charset="0"/>
              </a:rPr>
              <a:t>IME COMPLEXITY COMPARISON</a:t>
            </a:r>
            <a:endParaRPr lang="en-IN" sz="6600" b="1" i="0" u="none" strike="noStrike" cap="none" dirty="0">
              <a:solidFill>
                <a:schemeClr val="tx1"/>
              </a:solidFill>
              <a:latin typeface="Times New Roman" panose="02020603050405020304" pitchFamily="18" charset="0"/>
              <a:cs typeface="Times New Roman" panose="02020603050405020304" pitchFamily="18" charset="0"/>
              <a:sym typeface="Arial"/>
            </a:endParaRPr>
          </a:p>
        </p:txBody>
      </p:sp>
      <p:sp>
        <p:nvSpPr>
          <p:cNvPr id="129" name="Google Shape;129;p7">
            <a:extLst>
              <a:ext uri="{FF2B5EF4-FFF2-40B4-BE49-F238E27FC236}">
                <a16:creationId xmlns:a16="http://schemas.microsoft.com/office/drawing/2014/main" id="{7F827E3F-9C83-3875-4EDF-03AD66B508E2}"/>
              </a:ext>
            </a:extLst>
          </p:cNvPr>
          <p:cNvSpPr/>
          <p:nvPr/>
        </p:nvSpPr>
        <p:spPr>
          <a:xfrm>
            <a:off x="6365631" y="1598105"/>
            <a:ext cx="9337431" cy="1384995"/>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a:p>
        </p:txBody>
      </p:sp>
      <p:graphicFrame>
        <p:nvGraphicFramePr>
          <p:cNvPr id="3" name="Table 2">
            <a:extLst>
              <a:ext uri="{FF2B5EF4-FFF2-40B4-BE49-F238E27FC236}">
                <a16:creationId xmlns:a16="http://schemas.microsoft.com/office/drawing/2014/main" id="{ACB6C659-54F9-CC92-B1A4-7854A0A27F0E}"/>
              </a:ext>
            </a:extLst>
          </p:cNvPr>
          <p:cNvGraphicFramePr>
            <a:graphicFrameLocks noGrp="1"/>
          </p:cNvGraphicFramePr>
          <p:nvPr>
            <p:extLst>
              <p:ext uri="{D42A27DB-BD31-4B8C-83A1-F6EECF244321}">
                <p14:modId xmlns:p14="http://schemas.microsoft.com/office/powerpoint/2010/main" val="944865742"/>
              </p:ext>
            </p:extLst>
          </p:nvPr>
        </p:nvGraphicFramePr>
        <p:xfrm>
          <a:off x="1206500" y="3744807"/>
          <a:ext cx="21971000" cy="5577840"/>
        </p:xfrm>
        <a:graphic>
          <a:graphicData uri="http://schemas.openxmlformats.org/drawingml/2006/table">
            <a:tbl>
              <a:tblPr>
                <a:tableStyleId>{D8A603B1-64F8-4D6B-8910-69835B49B399}</a:tableStyleId>
              </a:tblPr>
              <a:tblGrid>
                <a:gridCol w="5492750">
                  <a:extLst>
                    <a:ext uri="{9D8B030D-6E8A-4147-A177-3AD203B41FA5}">
                      <a16:colId xmlns:a16="http://schemas.microsoft.com/office/drawing/2014/main" val="1463768250"/>
                    </a:ext>
                  </a:extLst>
                </a:gridCol>
                <a:gridCol w="5492750">
                  <a:extLst>
                    <a:ext uri="{9D8B030D-6E8A-4147-A177-3AD203B41FA5}">
                      <a16:colId xmlns:a16="http://schemas.microsoft.com/office/drawing/2014/main" val="3992817993"/>
                    </a:ext>
                  </a:extLst>
                </a:gridCol>
                <a:gridCol w="5492750">
                  <a:extLst>
                    <a:ext uri="{9D8B030D-6E8A-4147-A177-3AD203B41FA5}">
                      <a16:colId xmlns:a16="http://schemas.microsoft.com/office/drawing/2014/main" val="3660049385"/>
                    </a:ext>
                  </a:extLst>
                </a:gridCol>
                <a:gridCol w="5492750">
                  <a:extLst>
                    <a:ext uri="{9D8B030D-6E8A-4147-A177-3AD203B41FA5}">
                      <a16:colId xmlns:a16="http://schemas.microsoft.com/office/drawing/2014/main" val="3003574391"/>
                    </a:ext>
                  </a:extLst>
                </a:gridCol>
              </a:tblGrid>
              <a:tr h="0">
                <a:tc>
                  <a:txBody>
                    <a:bodyPr/>
                    <a:lstStyle/>
                    <a:p>
                      <a:pPr>
                        <a:buNone/>
                      </a:pPr>
                      <a:r>
                        <a:rPr lang="en-IN" sz="3600" dirty="0">
                          <a:latin typeface="Times New Roman" panose="02020603050405020304" pitchFamily="18" charset="0"/>
                          <a:cs typeface="Times New Roman" panose="02020603050405020304" pitchFamily="18" charset="0"/>
                        </a:rPr>
                        <a:t>Data Structure</a:t>
                      </a:r>
                    </a:p>
                  </a:txBody>
                  <a:tcPr anchor="ctr"/>
                </a:tc>
                <a:tc>
                  <a:txBody>
                    <a:bodyPr/>
                    <a:lstStyle/>
                    <a:p>
                      <a:pPr>
                        <a:buNone/>
                      </a:pPr>
                      <a:r>
                        <a:rPr lang="en-IN" sz="3600">
                          <a:latin typeface="Times New Roman" panose="02020603050405020304" pitchFamily="18" charset="0"/>
                          <a:cs typeface="Times New Roman" panose="02020603050405020304" pitchFamily="18" charset="0"/>
                        </a:rPr>
                        <a:t>Search</a:t>
                      </a:r>
                    </a:p>
                  </a:txBody>
                  <a:tcPr anchor="ctr"/>
                </a:tc>
                <a:tc>
                  <a:txBody>
                    <a:bodyPr/>
                    <a:lstStyle/>
                    <a:p>
                      <a:pPr>
                        <a:buNone/>
                      </a:pPr>
                      <a:r>
                        <a:rPr lang="en-IN" sz="3600">
                          <a:latin typeface="Times New Roman" panose="02020603050405020304" pitchFamily="18" charset="0"/>
                          <a:cs typeface="Times New Roman" panose="02020603050405020304" pitchFamily="18" charset="0"/>
                        </a:rPr>
                        <a:t>Insert</a:t>
                      </a:r>
                    </a:p>
                  </a:txBody>
                  <a:tcPr anchor="ctr"/>
                </a:tc>
                <a:tc>
                  <a:txBody>
                    <a:bodyPr/>
                    <a:lstStyle/>
                    <a:p>
                      <a:pPr>
                        <a:buNone/>
                      </a:pPr>
                      <a:r>
                        <a:rPr lang="en-IN" sz="3600">
                          <a:latin typeface="Times New Roman" panose="02020603050405020304" pitchFamily="18" charset="0"/>
                          <a:cs typeface="Times New Roman" panose="02020603050405020304" pitchFamily="18" charset="0"/>
                        </a:rPr>
                        <a:t>Delete</a:t>
                      </a:r>
                    </a:p>
                  </a:txBody>
                  <a:tcPr anchor="ctr"/>
                </a:tc>
                <a:extLst>
                  <a:ext uri="{0D108BD9-81ED-4DB2-BD59-A6C34878D82A}">
                    <a16:rowId xmlns:a16="http://schemas.microsoft.com/office/drawing/2014/main" val="2422067803"/>
                  </a:ext>
                </a:extLst>
              </a:tr>
              <a:tr h="0">
                <a:tc>
                  <a:txBody>
                    <a:bodyPr/>
                    <a:lstStyle/>
                    <a:p>
                      <a:pPr>
                        <a:buNone/>
                      </a:pPr>
                      <a:r>
                        <a:rPr lang="en-IN" sz="3600" dirty="0">
                          <a:latin typeface="Times New Roman" panose="02020603050405020304" pitchFamily="18" charset="0"/>
                          <a:cs typeface="Times New Roman" panose="02020603050405020304" pitchFamily="18" charset="0"/>
                        </a:rPr>
                        <a:t>Array (Linear Search)</a:t>
                      </a:r>
                    </a:p>
                  </a:txBody>
                  <a:tcPr anchor="ctr"/>
                </a:tc>
                <a:tc>
                  <a:txBody>
                    <a:bodyPr/>
                    <a:lstStyle/>
                    <a:p>
                      <a:pPr>
                        <a:buNone/>
                      </a:pPr>
                      <a:r>
                        <a:rPr lang="en-IN" sz="3600" b="1">
                          <a:latin typeface="Times New Roman" panose="02020603050405020304" pitchFamily="18" charset="0"/>
                          <a:cs typeface="Times New Roman" panose="02020603050405020304" pitchFamily="18" charset="0"/>
                        </a:rPr>
                        <a:t>O(n)</a:t>
                      </a:r>
                      <a:endParaRPr lang="en-IN" sz="3600">
                        <a:latin typeface="Times New Roman" panose="02020603050405020304" pitchFamily="18" charset="0"/>
                        <a:cs typeface="Times New Roman" panose="02020603050405020304" pitchFamily="18" charset="0"/>
                      </a:endParaRPr>
                    </a:p>
                  </a:txBody>
                  <a:tcPr anchor="ctr"/>
                </a:tc>
                <a:tc>
                  <a:txBody>
                    <a:bodyPr/>
                    <a:lstStyle/>
                    <a:p>
                      <a:pPr>
                        <a:buNone/>
                      </a:pPr>
                      <a:r>
                        <a:rPr lang="en-IN" sz="3600">
                          <a:latin typeface="Times New Roman" panose="02020603050405020304" pitchFamily="18" charset="0"/>
                          <a:cs typeface="Times New Roman" panose="02020603050405020304" pitchFamily="18" charset="0"/>
                        </a:rPr>
                        <a:t>O(1)*</a:t>
                      </a:r>
                    </a:p>
                  </a:txBody>
                  <a:tcPr anchor="ctr"/>
                </a:tc>
                <a:tc>
                  <a:txBody>
                    <a:bodyPr/>
                    <a:lstStyle/>
                    <a:p>
                      <a:pPr>
                        <a:buNone/>
                      </a:pPr>
                      <a:r>
                        <a:rPr lang="en-IN" sz="3600">
                          <a:latin typeface="Times New Roman" panose="02020603050405020304" pitchFamily="18" charset="0"/>
                          <a:cs typeface="Times New Roman" panose="02020603050405020304" pitchFamily="18" charset="0"/>
                        </a:rPr>
                        <a:t>O(n)</a:t>
                      </a:r>
                    </a:p>
                  </a:txBody>
                  <a:tcPr anchor="ctr"/>
                </a:tc>
                <a:extLst>
                  <a:ext uri="{0D108BD9-81ED-4DB2-BD59-A6C34878D82A}">
                    <a16:rowId xmlns:a16="http://schemas.microsoft.com/office/drawing/2014/main" val="837324517"/>
                  </a:ext>
                </a:extLst>
              </a:tr>
              <a:tr h="0">
                <a:tc>
                  <a:txBody>
                    <a:bodyPr/>
                    <a:lstStyle/>
                    <a:p>
                      <a:pPr>
                        <a:buNone/>
                      </a:pPr>
                      <a:r>
                        <a:rPr lang="en-IN" sz="3600" dirty="0">
                          <a:latin typeface="Times New Roman" panose="02020603050405020304" pitchFamily="18" charset="0"/>
                          <a:cs typeface="Times New Roman" panose="02020603050405020304" pitchFamily="18" charset="0"/>
                        </a:rPr>
                        <a:t>Sorted Array (Binary Search)</a:t>
                      </a:r>
                    </a:p>
                  </a:txBody>
                  <a:tcPr anchor="ctr"/>
                </a:tc>
                <a:tc>
                  <a:txBody>
                    <a:bodyPr/>
                    <a:lstStyle/>
                    <a:p>
                      <a:pPr>
                        <a:buNone/>
                      </a:pPr>
                      <a:r>
                        <a:rPr lang="en-IN" sz="3600" b="1">
                          <a:latin typeface="Times New Roman" panose="02020603050405020304" pitchFamily="18" charset="0"/>
                          <a:cs typeface="Times New Roman" panose="02020603050405020304" pitchFamily="18" charset="0"/>
                        </a:rPr>
                        <a:t>O(log n)</a:t>
                      </a:r>
                      <a:endParaRPr lang="en-IN" sz="3600">
                        <a:latin typeface="Times New Roman" panose="02020603050405020304" pitchFamily="18" charset="0"/>
                        <a:cs typeface="Times New Roman" panose="02020603050405020304" pitchFamily="18" charset="0"/>
                      </a:endParaRPr>
                    </a:p>
                  </a:txBody>
                  <a:tcPr anchor="ctr"/>
                </a:tc>
                <a:tc>
                  <a:txBody>
                    <a:bodyPr/>
                    <a:lstStyle/>
                    <a:p>
                      <a:pPr>
                        <a:buNone/>
                      </a:pPr>
                      <a:r>
                        <a:rPr lang="en-IN" sz="3600">
                          <a:latin typeface="Times New Roman" panose="02020603050405020304" pitchFamily="18" charset="0"/>
                          <a:cs typeface="Times New Roman" panose="02020603050405020304" pitchFamily="18" charset="0"/>
                        </a:rPr>
                        <a:t>O(n)</a:t>
                      </a:r>
                    </a:p>
                  </a:txBody>
                  <a:tcPr anchor="ctr"/>
                </a:tc>
                <a:tc>
                  <a:txBody>
                    <a:bodyPr/>
                    <a:lstStyle/>
                    <a:p>
                      <a:pPr>
                        <a:buNone/>
                      </a:pPr>
                      <a:r>
                        <a:rPr lang="en-IN" sz="3600">
                          <a:latin typeface="Times New Roman" panose="02020603050405020304" pitchFamily="18" charset="0"/>
                          <a:cs typeface="Times New Roman" panose="02020603050405020304" pitchFamily="18" charset="0"/>
                        </a:rPr>
                        <a:t>O(n)</a:t>
                      </a:r>
                    </a:p>
                  </a:txBody>
                  <a:tcPr anchor="ctr"/>
                </a:tc>
                <a:extLst>
                  <a:ext uri="{0D108BD9-81ED-4DB2-BD59-A6C34878D82A}">
                    <a16:rowId xmlns:a16="http://schemas.microsoft.com/office/drawing/2014/main" val="3854229468"/>
                  </a:ext>
                </a:extLst>
              </a:tr>
              <a:tr h="0">
                <a:tc>
                  <a:txBody>
                    <a:bodyPr/>
                    <a:lstStyle/>
                    <a:p>
                      <a:pPr>
                        <a:buNone/>
                      </a:pPr>
                      <a:r>
                        <a:rPr lang="en-IN" sz="3600" dirty="0">
                          <a:latin typeface="Times New Roman" panose="02020603050405020304" pitchFamily="18" charset="0"/>
                          <a:cs typeface="Times New Roman" panose="02020603050405020304" pitchFamily="18" charset="0"/>
                        </a:rPr>
                        <a:t>Linked List</a:t>
                      </a:r>
                    </a:p>
                  </a:txBody>
                  <a:tcPr anchor="ctr"/>
                </a:tc>
                <a:tc>
                  <a:txBody>
                    <a:bodyPr/>
                    <a:lstStyle/>
                    <a:p>
                      <a:pPr>
                        <a:buNone/>
                      </a:pPr>
                      <a:r>
                        <a:rPr lang="en-IN" sz="3600">
                          <a:latin typeface="Times New Roman" panose="02020603050405020304" pitchFamily="18" charset="0"/>
                          <a:cs typeface="Times New Roman" panose="02020603050405020304" pitchFamily="18" charset="0"/>
                        </a:rPr>
                        <a:t>O(n)</a:t>
                      </a:r>
                    </a:p>
                  </a:txBody>
                  <a:tcPr anchor="ctr"/>
                </a:tc>
                <a:tc>
                  <a:txBody>
                    <a:bodyPr/>
                    <a:lstStyle/>
                    <a:p>
                      <a:pPr>
                        <a:buNone/>
                      </a:pPr>
                      <a:r>
                        <a:rPr lang="en-IN" sz="3600">
                          <a:latin typeface="Times New Roman" panose="02020603050405020304" pitchFamily="18" charset="0"/>
                          <a:cs typeface="Times New Roman" panose="02020603050405020304" pitchFamily="18" charset="0"/>
                        </a:rPr>
                        <a:t>O(1)</a:t>
                      </a:r>
                    </a:p>
                  </a:txBody>
                  <a:tcPr anchor="ctr"/>
                </a:tc>
                <a:tc>
                  <a:txBody>
                    <a:bodyPr/>
                    <a:lstStyle/>
                    <a:p>
                      <a:pPr>
                        <a:buNone/>
                      </a:pPr>
                      <a:r>
                        <a:rPr lang="en-IN" sz="3600">
                          <a:latin typeface="Times New Roman" panose="02020603050405020304" pitchFamily="18" charset="0"/>
                          <a:cs typeface="Times New Roman" panose="02020603050405020304" pitchFamily="18" charset="0"/>
                        </a:rPr>
                        <a:t>O(1)</a:t>
                      </a:r>
                    </a:p>
                  </a:txBody>
                  <a:tcPr anchor="ctr"/>
                </a:tc>
                <a:extLst>
                  <a:ext uri="{0D108BD9-81ED-4DB2-BD59-A6C34878D82A}">
                    <a16:rowId xmlns:a16="http://schemas.microsoft.com/office/drawing/2014/main" val="2747605222"/>
                  </a:ext>
                </a:extLst>
              </a:tr>
              <a:tr h="0">
                <a:tc>
                  <a:txBody>
                    <a:bodyPr/>
                    <a:lstStyle/>
                    <a:p>
                      <a:pPr>
                        <a:buNone/>
                      </a:pPr>
                      <a:r>
                        <a:rPr lang="en-IN" sz="3600" dirty="0">
                          <a:latin typeface="Times New Roman" panose="02020603050405020304" pitchFamily="18" charset="0"/>
                          <a:cs typeface="Times New Roman" panose="02020603050405020304" pitchFamily="18" charset="0"/>
                        </a:rPr>
                        <a:t>Binary Search Tree</a:t>
                      </a:r>
                    </a:p>
                  </a:txBody>
                  <a:tcPr anchor="ctr"/>
                </a:tc>
                <a:tc>
                  <a:txBody>
                    <a:bodyPr/>
                    <a:lstStyle/>
                    <a:p>
                      <a:pPr>
                        <a:buNone/>
                      </a:pPr>
                      <a:r>
                        <a:rPr lang="en-IN" sz="3600">
                          <a:latin typeface="Times New Roman" panose="02020603050405020304" pitchFamily="18" charset="0"/>
                          <a:cs typeface="Times New Roman" panose="02020603050405020304" pitchFamily="18" charset="0"/>
                        </a:rPr>
                        <a:t>O(log n)*</a:t>
                      </a:r>
                    </a:p>
                  </a:txBody>
                  <a:tcPr anchor="ctr"/>
                </a:tc>
                <a:tc>
                  <a:txBody>
                    <a:bodyPr/>
                    <a:lstStyle/>
                    <a:p>
                      <a:pPr>
                        <a:buNone/>
                      </a:pPr>
                      <a:r>
                        <a:rPr lang="en-IN" sz="3600">
                          <a:latin typeface="Times New Roman" panose="02020603050405020304" pitchFamily="18" charset="0"/>
                          <a:cs typeface="Times New Roman" panose="02020603050405020304" pitchFamily="18" charset="0"/>
                        </a:rPr>
                        <a:t>O(log n)*</a:t>
                      </a:r>
                    </a:p>
                  </a:txBody>
                  <a:tcPr anchor="ctr"/>
                </a:tc>
                <a:tc>
                  <a:txBody>
                    <a:bodyPr/>
                    <a:lstStyle/>
                    <a:p>
                      <a:pPr>
                        <a:buNone/>
                      </a:pPr>
                      <a:r>
                        <a:rPr lang="en-IN" sz="3600">
                          <a:latin typeface="Times New Roman" panose="02020603050405020304" pitchFamily="18" charset="0"/>
                          <a:cs typeface="Times New Roman" panose="02020603050405020304" pitchFamily="18" charset="0"/>
                        </a:rPr>
                        <a:t>O(log n)*</a:t>
                      </a:r>
                    </a:p>
                  </a:txBody>
                  <a:tcPr anchor="ctr"/>
                </a:tc>
                <a:extLst>
                  <a:ext uri="{0D108BD9-81ED-4DB2-BD59-A6C34878D82A}">
                    <a16:rowId xmlns:a16="http://schemas.microsoft.com/office/drawing/2014/main" val="2798259627"/>
                  </a:ext>
                </a:extLst>
              </a:tr>
              <a:tr h="0">
                <a:tc>
                  <a:txBody>
                    <a:bodyPr/>
                    <a:lstStyle/>
                    <a:p>
                      <a:pPr>
                        <a:buNone/>
                      </a:pPr>
                      <a:r>
                        <a:rPr lang="en-IN" sz="3600" dirty="0">
                          <a:latin typeface="Times New Roman" panose="02020603050405020304" pitchFamily="18" charset="0"/>
                          <a:cs typeface="Times New Roman" panose="02020603050405020304" pitchFamily="18" charset="0"/>
                        </a:rPr>
                        <a:t>Balanced BST (AVL/RB Tree)</a:t>
                      </a:r>
                    </a:p>
                  </a:txBody>
                  <a:tcPr anchor="ctr"/>
                </a:tc>
                <a:tc>
                  <a:txBody>
                    <a:bodyPr/>
                    <a:lstStyle/>
                    <a:p>
                      <a:pPr>
                        <a:buNone/>
                      </a:pPr>
                      <a:r>
                        <a:rPr lang="en-IN" sz="3600">
                          <a:latin typeface="Times New Roman" panose="02020603050405020304" pitchFamily="18" charset="0"/>
                          <a:cs typeface="Times New Roman" panose="02020603050405020304" pitchFamily="18" charset="0"/>
                        </a:rPr>
                        <a:t>O(log n)</a:t>
                      </a:r>
                    </a:p>
                  </a:txBody>
                  <a:tcPr anchor="ctr"/>
                </a:tc>
                <a:tc>
                  <a:txBody>
                    <a:bodyPr/>
                    <a:lstStyle/>
                    <a:p>
                      <a:pPr>
                        <a:buNone/>
                      </a:pPr>
                      <a:r>
                        <a:rPr lang="en-IN" sz="3600">
                          <a:latin typeface="Times New Roman" panose="02020603050405020304" pitchFamily="18" charset="0"/>
                          <a:cs typeface="Times New Roman" panose="02020603050405020304" pitchFamily="18" charset="0"/>
                        </a:rPr>
                        <a:t>O(log n)</a:t>
                      </a:r>
                    </a:p>
                  </a:txBody>
                  <a:tcPr anchor="ctr"/>
                </a:tc>
                <a:tc>
                  <a:txBody>
                    <a:bodyPr/>
                    <a:lstStyle/>
                    <a:p>
                      <a:pPr>
                        <a:buNone/>
                      </a:pPr>
                      <a:r>
                        <a:rPr lang="en-IN" sz="3600">
                          <a:latin typeface="Times New Roman" panose="02020603050405020304" pitchFamily="18" charset="0"/>
                          <a:cs typeface="Times New Roman" panose="02020603050405020304" pitchFamily="18" charset="0"/>
                        </a:rPr>
                        <a:t>O(log n)</a:t>
                      </a:r>
                    </a:p>
                  </a:txBody>
                  <a:tcPr anchor="ctr"/>
                </a:tc>
                <a:extLst>
                  <a:ext uri="{0D108BD9-81ED-4DB2-BD59-A6C34878D82A}">
                    <a16:rowId xmlns:a16="http://schemas.microsoft.com/office/drawing/2014/main" val="3904071809"/>
                  </a:ext>
                </a:extLst>
              </a:tr>
              <a:tr h="0">
                <a:tc>
                  <a:txBody>
                    <a:bodyPr/>
                    <a:lstStyle/>
                    <a:p>
                      <a:pPr>
                        <a:buNone/>
                      </a:pPr>
                      <a:r>
                        <a:rPr lang="en-IN" sz="3600" b="1" dirty="0">
                          <a:latin typeface="Times New Roman" panose="02020603050405020304" pitchFamily="18" charset="0"/>
                          <a:cs typeface="Times New Roman" panose="02020603050405020304" pitchFamily="18" charset="0"/>
                        </a:rPr>
                        <a:t>Hash Table</a:t>
                      </a:r>
                      <a:endParaRPr lang="en-IN" sz="3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3600" b="1" dirty="0">
                          <a:latin typeface="Times New Roman" panose="02020603050405020304" pitchFamily="18" charset="0"/>
                          <a:cs typeface="Times New Roman" panose="02020603050405020304" pitchFamily="18" charset="0"/>
                        </a:rPr>
                        <a:t>O(1) Average</a:t>
                      </a:r>
                      <a:endParaRPr lang="en-IN" sz="36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3600" dirty="0">
                          <a:latin typeface="Times New Roman" panose="02020603050405020304" pitchFamily="18" charset="0"/>
                          <a:cs typeface="Times New Roman" panose="02020603050405020304" pitchFamily="18" charset="0"/>
                        </a:rPr>
                        <a:t>O(1) Average</a:t>
                      </a:r>
                    </a:p>
                  </a:txBody>
                  <a:tcPr anchor="ctr"/>
                </a:tc>
                <a:tc>
                  <a:txBody>
                    <a:bodyPr/>
                    <a:lstStyle/>
                    <a:p>
                      <a:pPr>
                        <a:buNone/>
                      </a:pPr>
                      <a:r>
                        <a:rPr lang="en-IN" sz="3600" dirty="0">
                          <a:latin typeface="Times New Roman" panose="02020603050405020304" pitchFamily="18" charset="0"/>
                          <a:cs typeface="Times New Roman" panose="02020603050405020304" pitchFamily="18" charset="0"/>
                        </a:rPr>
                        <a:t>O(1) Average</a:t>
                      </a:r>
                    </a:p>
                  </a:txBody>
                  <a:tcPr anchor="ctr"/>
                </a:tc>
                <a:extLst>
                  <a:ext uri="{0D108BD9-81ED-4DB2-BD59-A6C34878D82A}">
                    <a16:rowId xmlns:a16="http://schemas.microsoft.com/office/drawing/2014/main" val="1031465567"/>
                  </a:ext>
                </a:extLst>
              </a:tr>
            </a:tbl>
          </a:graphicData>
        </a:graphic>
      </p:graphicFrame>
    </p:spTree>
    <p:extLst>
      <p:ext uri="{BB962C8B-B14F-4D97-AF65-F5344CB8AC3E}">
        <p14:creationId xmlns:p14="http://schemas.microsoft.com/office/powerpoint/2010/main" val="3812194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18A-F3C3-5B62-B942-48EEAA3EF8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2611E8B-2BE8-E502-8436-DA1DC5B9FA0E}"/>
              </a:ext>
            </a:extLst>
          </p:cNvPr>
          <p:cNvSpPr>
            <a:spLocks noGrp="1"/>
          </p:cNvSpPr>
          <p:nvPr>
            <p:ph type="title"/>
          </p:nvPr>
        </p:nvSpPr>
        <p:spPr>
          <a:xfrm>
            <a:off x="1206450" y="1328881"/>
            <a:ext cx="21971100" cy="1434900"/>
          </a:xfrm>
        </p:spPr>
        <p:txBody>
          <a:bodyPr/>
          <a:lstStyle/>
          <a:p>
            <a:pPr algn="ctr"/>
            <a:r>
              <a:rPr lang="en-IN" dirty="0"/>
              <a:t>CONCLUSION</a:t>
            </a:r>
          </a:p>
        </p:txBody>
      </p:sp>
      <p:sp>
        <p:nvSpPr>
          <p:cNvPr id="4" name="Text Placeholder 3">
            <a:extLst>
              <a:ext uri="{FF2B5EF4-FFF2-40B4-BE49-F238E27FC236}">
                <a16:creationId xmlns:a16="http://schemas.microsoft.com/office/drawing/2014/main" id="{518014C7-FC40-4D59-5F1A-E962C8B92513}"/>
              </a:ext>
            </a:extLst>
          </p:cNvPr>
          <p:cNvSpPr>
            <a:spLocks noGrp="1"/>
          </p:cNvSpPr>
          <p:nvPr>
            <p:ph type="body" idx="1"/>
          </p:nvPr>
        </p:nvSpPr>
        <p:spPr>
          <a:xfrm>
            <a:off x="849552" y="3194614"/>
            <a:ext cx="21687367" cy="9192505"/>
          </a:xfrm>
        </p:spPr>
        <p:txBody>
          <a:bodyPr>
            <a:noAutofit/>
          </a:bodyPr>
          <a:lstStyle/>
          <a:p>
            <a:pPr marL="800100" indent="-571500" algn="just">
              <a:lnSpc>
                <a:spcPct val="150000"/>
              </a:lnSpc>
              <a:buFont typeface="Arial" panose="020B0604020202020204" pitchFamily="34" charset="0"/>
              <a:buChar char="•"/>
            </a:pPr>
            <a:r>
              <a:rPr lang="en-US" sz="3600" b="0" dirty="0">
                <a:latin typeface="Times New Roman" panose="02020603050405020304" pitchFamily="18" charset="0"/>
                <a:cs typeface="Times New Roman" panose="02020603050405020304" pitchFamily="18" charset="0"/>
              </a:rPr>
              <a:t>Efficient ISBN-based searching is essential for ensuring quick and reliable access to books in a digital library containing thousands of records.</a:t>
            </a:r>
          </a:p>
          <a:p>
            <a:pPr marL="800100" indent="-571500" algn="just">
              <a:lnSpc>
                <a:spcPct val="150000"/>
              </a:lnSpc>
              <a:buFont typeface="Arial" panose="020B0604020202020204" pitchFamily="34" charset="0"/>
              <a:buChar char="•"/>
            </a:pPr>
            <a:r>
              <a:rPr lang="en-US" sz="3600" b="0" dirty="0">
                <a:latin typeface="Times New Roman" panose="02020603050405020304" pitchFamily="18" charset="0"/>
                <a:cs typeface="Times New Roman" panose="02020603050405020304" pitchFamily="18" charset="0"/>
              </a:rPr>
              <a:t>Time complexity analysis shows that traditional data structures such as arrays and linked lists are less efficient for large-scale search operations.</a:t>
            </a:r>
          </a:p>
          <a:p>
            <a:pPr marL="800100" indent="-571500" algn="just">
              <a:lnSpc>
                <a:spcPct val="150000"/>
              </a:lnSpc>
              <a:buFont typeface="Arial" panose="020B0604020202020204" pitchFamily="34" charset="0"/>
              <a:buChar char="•"/>
            </a:pPr>
            <a:r>
              <a:rPr lang="en-US" sz="3600" b="0" dirty="0">
                <a:latin typeface="Times New Roman" panose="02020603050405020304" pitchFamily="18" charset="0"/>
                <a:cs typeface="Times New Roman" panose="02020603050405020304" pitchFamily="18" charset="0"/>
              </a:rPr>
              <a:t>Hash Tables provide an average search time of O(1), making them the most suitable data structure for fast ISBN </a:t>
            </a:r>
            <a:r>
              <a:rPr lang="en-US" sz="3600" b="0" dirty="0" err="1">
                <a:latin typeface="Times New Roman" panose="02020603050405020304" pitchFamily="18" charset="0"/>
                <a:cs typeface="Times New Roman" panose="02020603050405020304" pitchFamily="18" charset="0"/>
              </a:rPr>
              <a:t>lookups.Using</a:t>
            </a:r>
            <a:r>
              <a:rPr lang="en-US" sz="3600" b="0" dirty="0">
                <a:latin typeface="Times New Roman" panose="02020603050405020304" pitchFamily="18" charset="0"/>
                <a:cs typeface="Times New Roman" panose="02020603050405020304" pitchFamily="18" charset="0"/>
              </a:rPr>
              <a:t> a Hash Table improves system performance, scalability, and user experience, even as the library database continues to grow.</a:t>
            </a:r>
          </a:p>
          <a:p>
            <a:pPr marL="800100" indent="-571500" algn="just">
              <a:lnSpc>
                <a:spcPct val="150000"/>
              </a:lnSpc>
              <a:buFont typeface="Arial" panose="020B0604020202020204" pitchFamily="34" charset="0"/>
              <a:buChar char="•"/>
            </a:pPr>
            <a:r>
              <a:rPr lang="en-US" sz="3600" b="0" dirty="0">
                <a:latin typeface="Times New Roman" panose="02020603050405020304" pitchFamily="18" charset="0"/>
                <a:cs typeface="Times New Roman" panose="02020603050405020304" pitchFamily="18" charset="0"/>
              </a:rPr>
              <a:t>Therefore, implementing a Hash Table is the optimal solution for managing and searching 50,000 book records efficiently in a digital library system</a:t>
            </a:r>
            <a:endParaRPr lang="en-IN" sz="36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1043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3384E-66CE-D60C-1402-A8089D5107BB}"/>
              </a:ext>
            </a:extLst>
          </p:cNvPr>
          <p:cNvSpPr>
            <a:spLocks noGrp="1"/>
          </p:cNvSpPr>
          <p:nvPr>
            <p:ph type="title"/>
          </p:nvPr>
        </p:nvSpPr>
        <p:spPr>
          <a:xfrm>
            <a:off x="1206450" y="1502833"/>
            <a:ext cx="21971100" cy="1434900"/>
          </a:xfrm>
        </p:spPr>
        <p:txBody>
          <a:bodyPr>
            <a:normAutofit/>
          </a:bodyPr>
          <a:lstStyle/>
          <a:p>
            <a:pPr algn="ctr"/>
            <a:r>
              <a:rPr lang="en-IN" sz="7200" dirty="0"/>
              <a:t>REFERENCES</a:t>
            </a:r>
          </a:p>
        </p:txBody>
      </p:sp>
      <p:sp>
        <p:nvSpPr>
          <p:cNvPr id="6" name="TextBox 5">
            <a:extLst>
              <a:ext uri="{FF2B5EF4-FFF2-40B4-BE49-F238E27FC236}">
                <a16:creationId xmlns:a16="http://schemas.microsoft.com/office/drawing/2014/main" id="{663E187C-163F-7B8C-FF93-40AA42CE5776}"/>
              </a:ext>
            </a:extLst>
          </p:cNvPr>
          <p:cNvSpPr txBox="1"/>
          <p:nvPr/>
        </p:nvSpPr>
        <p:spPr>
          <a:xfrm>
            <a:off x="2711425" y="2937733"/>
            <a:ext cx="18961149" cy="8956298"/>
          </a:xfrm>
          <a:prstGeom prst="rect">
            <a:avLst/>
          </a:prstGeom>
          <a:noFill/>
        </p:spPr>
        <p:txBody>
          <a:bodyPr wrap="square" rtlCol="0">
            <a:spAutoFit/>
          </a:bodyPr>
          <a:lstStyle/>
          <a:p>
            <a:pPr marL="571500" indent="-571500">
              <a:buFont typeface="Arial" panose="020B0604020202020204" pitchFamily="34" charset="0"/>
              <a:buChar char="•"/>
            </a:pPr>
            <a:r>
              <a:rPr lang="en-IN" sz="3600" dirty="0"/>
              <a:t>Lessley, B., Li, S., &amp; Childs, H. (2020). </a:t>
            </a:r>
            <a:r>
              <a:rPr lang="en-IN" sz="3600" i="1" dirty="0" err="1"/>
              <a:t>HashFight</a:t>
            </a:r>
            <a:r>
              <a:rPr lang="en-IN" sz="3600" i="1" dirty="0"/>
              <a:t>: A platform-portable hash table for multi-core and many-core architectures</a:t>
            </a:r>
            <a:r>
              <a:rPr lang="en-IN" sz="3600" dirty="0"/>
              <a:t>. Proceedings of Electronic Imaging 2020, Visualization and Data Analysis. </a:t>
            </a:r>
            <a:r>
              <a:rPr lang="en-IN" sz="3600" dirty="0">
                <a:hlinkClick r:id="rId2"/>
              </a:rPr>
              <a:t>https://doi.org/10.2352/ISSN.2470-1173.2020.1.VDA-376</a:t>
            </a:r>
            <a:r>
              <a:rPr lang="en-IN" sz="3600" dirty="0"/>
              <a:t> (</a:t>
            </a:r>
            <a:r>
              <a:rPr lang="en-IN" sz="3600" dirty="0">
                <a:hlinkClick r:id="rId3" tooltip="IS&amp;T | Library"/>
              </a:rPr>
              <a:t>Imaging Library</a:t>
            </a:r>
            <a:r>
              <a:rPr lang="en-IN" sz="3600" dirty="0"/>
              <a:t>)</a:t>
            </a:r>
          </a:p>
          <a:p>
            <a:pPr marL="571500" indent="-571500">
              <a:buFont typeface="Arial" panose="020B0604020202020204" pitchFamily="34" charset="0"/>
              <a:buChar char="•"/>
            </a:pPr>
            <a:r>
              <a:rPr lang="en-IN" sz="3600" dirty="0"/>
              <a:t>Lu, B., Hao, X., Wang, T., &amp; Lo, E. (2020). </a:t>
            </a:r>
            <a:r>
              <a:rPr lang="en-IN" sz="3600" i="1" dirty="0"/>
              <a:t>Dash: Scalable hashing on persistent memory</a:t>
            </a:r>
            <a:r>
              <a:rPr lang="en-IN" sz="3600" dirty="0"/>
              <a:t>. </a:t>
            </a:r>
            <a:r>
              <a:rPr lang="en-IN" sz="3600" i="1" dirty="0"/>
              <a:t>Proceedings of the VLDB Endowment, 13</a:t>
            </a:r>
            <a:r>
              <a:rPr lang="en-IN" sz="3600" dirty="0"/>
              <a:t>(8), 1147–1161. </a:t>
            </a:r>
            <a:r>
              <a:rPr lang="en-IN" sz="3600" dirty="0">
                <a:hlinkClick r:id="rId4"/>
              </a:rPr>
              <a:t>https://doi.org/10.14778/3389133.3389134</a:t>
            </a:r>
            <a:r>
              <a:rPr lang="en-IN" sz="3600" dirty="0"/>
              <a:t> (</a:t>
            </a:r>
            <a:r>
              <a:rPr lang="en-IN" sz="3600" dirty="0">
                <a:hlinkClick r:id="rId5" tooltip="Dash: Scalable Hashing on Persistent Memory"/>
              </a:rPr>
              <a:t>VLDB</a:t>
            </a:r>
            <a:r>
              <a:rPr lang="en-IN" sz="3600" dirty="0"/>
              <a:t>)</a:t>
            </a:r>
          </a:p>
          <a:p>
            <a:pPr marL="571500" indent="-571500">
              <a:buFont typeface="Arial" panose="020B0604020202020204" pitchFamily="34" charset="0"/>
              <a:buChar char="•"/>
            </a:pPr>
            <a:r>
              <a:rPr lang="en-IN" sz="3600" dirty="0"/>
              <a:t>Bender, M. A., Kuszmaul, B. C., Kuszmaul, W., &amp; Zhan, J. (2022). </a:t>
            </a:r>
            <a:r>
              <a:rPr lang="en-IN" sz="3600" i="1" dirty="0"/>
              <a:t>On the optimal time/space </a:t>
            </a:r>
            <a:r>
              <a:rPr lang="en-IN" sz="3600" i="1" dirty="0" err="1"/>
              <a:t>tradeoff</a:t>
            </a:r>
            <a:r>
              <a:rPr lang="en-IN" sz="3600" i="1" dirty="0"/>
              <a:t> for hash tables</a:t>
            </a:r>
            <a:r>
              <a:rPr lang="en-IN" sz="3600" dirty="0"/>
              <a:t>. </a:t>
            </a:r>
            <a:r>
              <a:rPr lang="en-IN" sz="3600" i="1" dirty="0"/>
              <a:t>Proceedings of the 54th Annual ACM SIGACT Symposium on Theory of Computing (STOC '22)</a:t>
            </a:r>
            <a:r>
              <a:rPr lang="en-IN" sz="3600" dirty="0"/>
              <a:t>, 901–914. </a:t>
            </a:r>
            <a:r>
              <a:rPr lang="en-IN" sz="3600" dirty="0">
                <a:hlinkClick r:id="rId6"/>
              </a:rPr>
              <a:t>https://doi.org/10.1145/3519935.3519969</a:t>
            </a:r>
            <a:endParaRPr lang="en-IN" sz="3600" dirty="0"/>
          </a:p>
          <a:p>
            <a:pPr marL="571500" indent="-571500">
              <a:buFont typeface="Arial" panose="020B0604020202020204" pitchFamily="34" charset="0"/>
              <a:buChar char="•"/>
            </a:pPr>
            <a:r>
              <a:rPr lang="en-IN" sz="3600" dirty="0"/>
              <a:t>Underwood, K. D. (2025). </a:t>
            </a:r>
            <a:r>
              <a:rPr lang="en-IN" sz="3600" i="1" dirty="0"/>
              <a:t>Speeding up hash tables</a:t>
            </a:r>
            <a:r>
              <a:rPr lang="en-IN" sz="3600" dirty="0"/>
              <a:t>. </a:t>
            </a:r>
            <a:r>
              <a:rPr lang="en-IN" sz="3600" i="1" dirty="0"/>
              <a:t>Communications of the ACM</a:t>
            </a:r>
            <a:r>
              <a:rPr lang="en-IN" sz="3600" dirty="0"/>
              <a:t>. </a:t>
            </a:r>
            <a:r>
              <a:rPr lang="en-IN" sz="3600" dirty="0">
                <a:hlinkClick r:id="rId7"/>
              </a:rPr>
              <a:t>https://doi.org/10.1145/3772375</a:t>
            </a:r>
            <a:endParaRPr lang="en-IN" sz="3600" dirty="0"/>
          </a:p>
          <a:p>
            <a:pPr marL="571500" indent="-571500">
              <a:buFont typeface="Arial" panose="020B0604020202020204" pitchFamily="34" charset="0"/>
              <a:buChar char="•"/>
            </a:pPr>
            <a:r>
              <a:rPr lang="en-IN" sz="3600" dirty="0"/>
              <a:t>Bang, H., &amp; Jeon, S. (2026). </a:t>
            </a:r>
            <a:r>
              <a:rPr lang="en-IN" sz="3600" i="1" dirty="0"/>
              <a:t>D-HASH: Dynamic Hot-key Aware Scalable Hashing for Load Balancing in Distributed Cache Systems</a:t>
            </a:r>
            <a:r>
              <a:rPr lang="en-IN" sz="3600" dirty="0"/>
              <a:t>. </a:t>
            </a:r>
            <a:r>
              <a:rPr lang="en-IN" sz="3600" i="1" dirty="0"/>
              <a:t>KSII Transactions on Internet and Information Systems, 20</a:t>
            </a:r>
            <a:r>
              <a:rPr lang="en-IN" sz="3600" dirty="0"/>
              <a:t>(3), 1361–1388. </a:t>
            </a:r>
            <a:r>
              <a:rPr lang="en-IN" sz="3600" dirty="0">
                <a:hlinkClick r:id="rId8"/>
              </a:rPr>
              <a:t>https://doi.org/10.3837/tiis.2026.03.013</a:t>
            </a:r>
            <a:r>
              <a:rPr lang="en-IN" sz="3600" dirty="0"/>
              <a:t> (</a:t>
            </a:r>
            <a:r>
              <a:rPr lang="en-IN" sz="3600" dirty="0">
                <a:hlinkClick r:id="rId9" tooltip="D-HASH: Dynamic Hot-key Aware Scalable Hashing for Load Balancing in Distributed Cache Systems"/>
              </a:rPr>
              <a:t>itiis.org</a:t>
            </a:r>
            <a:r>
              <a:rPr lang="en-IN" sz="3600" dirty="0"/>
              <a:t>)</a:t>
            </a:r>
            <a:endParaRPr lang="en-IN" sz="3500"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8336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434E130-37A0-E67A-B12B-DCD84508563C}"/>
              </a:ext>
            </a:extLst>
          </p:cNvPr>
          <p:cNvSpPr>
            <a:spLocks noGrp="1"/>
          </p:cNvSpPr>
          <p:nvPr>
            <p:ph type="body" idx="2"/>
          </p:nvPr>
        </p:nvSpPr>
        <p:spPr>
          <a:xfrm>
            <a:off x="2307828" y="4385733"/>
            <a:ext cx="19768344" cy="3391460"/>
          </a:xfrm>
        </p:spPr>
        <p:txBody>
          <a:bodyPr>
            <a:prstTxWarp prst="textTriangle">
              <a:avLst/>
            </a:prstTxWarp>
          </a:bodyPr>
          <a:lstStyle/>
          <a:p>
            <a:r>
              <a:rPr lang="en-IN" b="1" dirty="0">
                <a:effectLst>
                  <a:outerShdw blurRad="50800" dist="38100" dir="2700000" algn="tl" rotWithShape="0">
                    <a:prstClr val="black">
                      <a:alpha val="40000"/>
                    </a:prstClr>
                  </a:outerShdw>
                  <a:reflection blurRad="6350" stA="55000" endA="300" endPos="45500" dir="5400000" sy="-100000" algn="bl" rotWithShape="0"/>
                </a:effectLst>
              </a:rPr>
              <a:t>THANK YOU</a:t>
            </a:r>
          </a:p>
        </p:txBody>
      </p:sp>
    </p:spTree>
    <p:extLst>
      <p:ext uri="{BB962C8B-B14F-4D97-AF65-F5344CB8AC3E}">
        <p14:creationId xmlns:p14="http://schemas.microsoft.com/office/powerpoint/2010/main" val="4104379649"/>
      </p:ext>
    </p:extLst>
  </p:cSld>
  <p:clrMapOvr>
    <a:masterClrMapping/>
  </p:clrMapOvr>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3089</TotalTime>
  <Words>1135</Words>
  <Application>Microsoft Office PowerPoint</Application>
  <PresentationFormat>Custom</PresentationFormat>
  <Paragraphs>106</Paragraphs>
  <Slides>9</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Times New Roman</vt:lpstr>
      <vt:lpstr>Helvetica Neue</vt:lpstr>
      <vt:lpstr>21_BasicWhite</vt:lpstr>
      <vt:lpstr>PowerPoint Presentation</vt:lpstr>
      <vt:lpstr>PowerPoint Presentation</vt:lpstr>
      <vt:lpstr>INTRODUCTION</vt:lpstr>
      <vt:lpstr>PowerPoint Presentation</vt:lpstr>
      <vt:lpstr>PowerPoint Presentation</vt:lpstr>
      <vt:lpstr>PowerPoint Presentation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Anushka Sree Raj</dc:creator>
  <cp:lastModifiedBy>Anushka Sree Raj</cp:lastModifiedBy>
  <cp:revision>22</cp:revision>
  <dcterms:modified xsi:type="dcterms:W3CDTF">2026-07-28T20:04:16Z</dcterms:modified>
</cp:coreProperties>
</file>